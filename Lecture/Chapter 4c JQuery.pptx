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4"/>
  </p:sldMasterIdLst>
  <p:notesMasterIdLst>
    <p:notesMasterId r:id="rId28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078" autoAdjust="0"/>
    <p:restoredTop sz="94660"/>
  </p:normalViewPr>
  <p:slideViewPr>
    <p:cSldViewPr snapToGrid="0">
      <p:cViewPr varScale="1">
        <p:scale>
          <a:sx n="69" d="100"/>
          <a:sy n="69" d="100"/>
        </p:scale>
        <p:origin x="1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73F06-1EA8-4D05-A92B-21414E7A4E76}" type="datetimeFigureOut">
              <a:rPr lang="en-MY" smtClean="0"/>
              <a:t>31/5/2024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11F36-6189-42A7-BF6C-2F34DD74393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35415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republic.com/html-reference/html-p-tag.php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5124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1311242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172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5EB0966-C26A-4740-9AEC-C74B0EF6DFEB}" type="slidenum"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</a:t>
            </a:fld>
            <a:endParaRPr lang="en-US" altLang="en-US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3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1358082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9220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506320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268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4152271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3316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1320851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5364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3602807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7412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239789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9460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377219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21508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1124661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23556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2930682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In the jQuery statement of the example above the p is a jQuery selector which select all the paragraphs </a:t>
            </a:r>
          </a:p>
          <a:p>
            <a:r>
              <a:rPr lang="en-US" altLang="en-US" smtClean="0"/>
              <a:t>i.e. the </a:t>
            </a:r>
            <a:r>
              <a:rPr lang="en-US" altLang="en-US" smtClean="0">
                <a:hlinkClick r:id="rId3"/>
              </a:rPr>
              <a:t>&lt;p&gt;</a:t>
            </a:r>
            <a:r>
              <a:rPr lang="en-US" altLang="en-US" smtClean="0"/>
              <a:t> elements in the document, later the text() method set the paragraph's text content to "Hello World!" text.</a:t>
            </a:r>
          </a:p>
          <a:p>
            <a:r>
              <a:rPr lang="en-US" altLang="en-US" smtClean="0"/>
              <a:t>The paragraph text in the example above is replaced automatically when the document is ready. 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25604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17203583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27652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461859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29700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18326338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31748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2723706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33796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19301866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35844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35788936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37892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4249983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39940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39863903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41988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8342588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44036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20006749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/>
              <a:t>&lt;style&gt;</a:t>
            </a:r>
          </a:p>
          <a:p>
            <a:pPr eaLnBrk="1" hangingPunct="1"/>
            <a:r>
              <a:rPr lang="en-US" altLang="en-US" smtClean="0"/>
              <a:t>    p{</a:t>
            </a:r>
          </a:p>
          <a:p>
            <a:pPr eaLnBrk="1" hangingPunct="1"/>
            <a:r>
              <a:rPr lang="en-US" altLang="en-US" smtClean="0"/>
              <a:t>        padding: 15px;</a:t>
            </a:r>
          </a:p>
          <a:p>
            <a:pPr eaLnBrk="1" hangingPunct="1"/>
            <a:r>
              <a:rPr lang="en-US" altLang="en-US" smtClean="0"/>
              <a:t>        background: #DDA0DD;</a:t>
            </a:r>
          </a:p>
          <a:p>
            <a:pPr eaLnBrk="1" hangingPunct="1"/>
            <a:r>
              <a:rPr lang="en-US" altLang="en-US" smtClean="0"/>
              <a:t>    }</a:t>
            </a:r>
          </a:p>
          <a:p>
            <a:pPr eaLnBrk="1" hangingPunct="1"/>
            <a:r>
              <a:rPr lang="en-US" altLang="en-US" smtClean="0"/>
              <a:t>&lt;/style&gt;</a:t>
            </a:r>
          </a:p>
          <a:p>
            <a:pPr eaLnBrk="1" hangingPunct="1"/>
            <a:r>
              <a:rPr lang="en-US" altLang="en-US" smtClean="0"/>
              <a:t>&lt;script&gt;</a:t>
            </a:r>
          </a:p>
          <a:p>
            <a:pPr eaLnBrk="1" hangingPunct="1"/>
            <a:r>
              <a:rPr lang="en-US" altLang="en-US" smtClean="0"/>
              <a:t>$(document).ready(function(){</a:t>
            </a:r>
          </a:p>
          <a:p>
            <a:pPr eaLnBrk="1" hangingPunct="1"/>
            <a:r>
              <a:rPr lang="en-US" altLang="en-US" smtClean="0"/>
              <a:t>    // Fading out displayed paragraphs with different speeds</a:t>
            </a:r>
          </a:p>
          <a:p>
            <a:pPr eaLnBrk="1" hangingPunct="1"/>
            <a:r>
              <a:rPr lang="en-US" altLang="en-US" smtClean="0"/>
              <a:t>    $(".out-btn").click(function(){</a:t>
            </a:r>
          </a:p>
          <a:p>
            <a:pPr eaLnBrk="1" hangingPunct="1"/>
            <a:r>
              <a:rPr lang="en-US" altLang="en-US" smtClean="0"/>
              <a:t>        $("p.normal").fadeOut();</a:t>
            </a:r>
          </a:p>
          <a:p>
            <a:pPr eaLnBrk="1" hangingPunct="1"/>
            <a:r>
              <a:rPr lang="en-US" altLang="en-US" smtClean="0"/>
              <a:t>        $("p.fast").fadeOut("fast");</a:t>
            </a:r>
          </a:p>
          <a:p>
            <a:pPr eaLnBrk="1" hangingPunct="1"/>
            <a:r>
              <a:rPr lang="en-US" altLang="en-US" smtClean="0"/>
              <a:t>        $("p.slow").fadeOut("slow");</a:t>
            </a:r>
          </a:p>
          <a:p>
            <a:pPr eaLnBrk="1" hangingPunct="1"/>
            <a:r>
              <a:rPr lang="en-US" altLang="en-US" smtClean="0"/>
              <a:t>        $("p.very-fast").fadeOut(50);</a:t>
            </a:r>
          </a:p>
          <a:p>
            <a:pPr eaLnBrk="1" hangingPunct="1"/>
            <a:r>
              <a:rPr lang="en-US" altLang="en-US" smtClean="0"/>
              <a:t>        $("p.very-slow").fadeOut(2000);</a:t>
            </a:r>
          </a:p>
          <a:p>
            <a:pPr eaLnBrk="1" hangingPunct="1"/>
            <a:r>
              <a:rPr lang="en-US" altLang="en-US" smtClean="0"/>
              <a:t>    });</a:t>
            </a:r>
          </a:p>
          <a:p>
            <a:pPr eaLnBrk="1" hangingPunct="1"/>
            <a:r>
              <a:rPr lang="en-US" altLang="en-US" smtClean="0"/>
              <a:t>    </a:t>
            </a:r>
          </a:p>
          <a:p>
            <a:pPr eaLnBrk="1" hangingPunct="1"/>
            <a:r>
              <a:rPr lang="en-US" altLang="en-US" smtClean="0"/>
              <a:t>    // Fading in hidden paragraphs with different speeds</a:t>
            </a:r>
          </a:p>
          <a:p>
            <a:pPr eaLnBrk="1" hangingPunct="1"/>
            <a:r>
              <a:rPr lang="en-US" altLang="en-US" smtClean="0"/>
              <a:t>    $(".in-btn").click(function(){</a:t>
            </a:r>
          </a:p>
          <a:p>
            <a:pPr eaLnBrk="1" hangingPunct="1"/>
            <a:r>
              <a:rPr lang="en-US" altLang="en-US" smtClean="0"/>
              <a:t>        $("p.normal").fadeIn();</a:t>
            </a:r>
          </a:p>
          <a:p>
            <a:pPr eaLnBrk="1" hangingPunct="1"/>
            <a:r>
              <a:rPr lang="en-US" altLang="en-US" smtClean="0"/>
              <a:t>        $("p.fast").fadeIn("fast");</a:t>
            </a:r>
          </a:p>
          <a:p>
            <a:pPr eaLnBrk="1" hangingPunct="1"/>
            <a:r>
              <a:rPr lang="en-US" altLang="en-US" smtClean="0"/>
              <a:t>        $("p.slow").fadeIn("slow");</a:t>
            </a:r>
          </a:p>
          <a:p>
            <a:pPr eaLnBrk="1" hangingPunct="1"/>
            <a:r>
              <a:rPr lang="en-US" altLang="en-US" smtClean="0"/>
              <a:t>        $("p.very-fast").fadeIn(50);</a:t>
            </a:r>
          </a:p>
          <a:p>
            <a:pPr eaLnBrk="1" hangingPunct="1"/>
            <a:r>
              <a:rPr lang="en-US" altLang="en-US" smtClean="0"/>
              <a:t>        $("p.very-slow").fadeIn(2000);</a:t>
            </a:r>
          </a:p>
          <a:p>
            <a:pPr eaLnBrk="1" hangingPunct="1"/>
            <a:r>
              <a:rPr lang="en-US" altLang="en-US" smtClean="0"/>
              <a:t>    });</a:t>
            </a:r>
          </a:p>
          <a:p>
            <a:pPr eaLnBrk="1" hangingPunct="1"/>
            <a:r>
              <a:rPr lang="en-US" altLang="en-US" smtClean="0"/>
              <a:t>});</a:t>
            </a:r>
          </a:p>
          <a:p>
            <a:pPr eaLnBrk="1" hangingPunct="1"/>
            <a:r>
              <a:rPr lang="en-US" altLang="en-US" smtClean="0"/>
              <a:t>&lt;/script&gt;</a:t>
            </a:r>
          </a:p>
          <a:p>
            <a:pPr eaLnBrk="1" hangingPunct="1"/>
            <a:r>
              <a:rPr lang="en-US" altLang="en-US" smtClean="0"/>
              <a:t>&lt;/head&gt;</a:t>
            </a:r>
          </a:p>
          <a:p>
            <a:pPr eaLnBrk="1" hangingPunct="1"/>
            <a:r>
              <a:rPr lang="en-US" altLang="en-US" smtClean="0"/>
              <a:t>&lt;body&gt;</a:t>
            </a:r>
          </a:p>
          <a:p>
            <a:pPr eaLnBrk="1" hangingPunct="1"/>
            <a:r>
              <a:rPr lang="en-US" altLang="en-US" smtClean="0"/>
              <a:t>    &lt;button type="button" class="out-btn"&gt;Fade Out Paragraphs&lt;/button&gt;</a:t>
            </a:r>
          </a:p>
          <a:p>
            <a:pPr eaLnBrk="1" hangingPunct="1"/>
            <a:r>
              <a:rPr lang="en-US" altLang="en-US" smtClean="0"/>
              <a:t>    &lt;button type="button" class="in-btn"&gt;Fade In Paragraphs&lt;/button&gt;</a:t>
            </a:r>
          </a:p>
          <a:p>
            <a:pPr eaLnBrk="1" hangingPunct="1"/>
            <a:r>
              <a:rPr lang="en-US" altLang="en-US" smtClean="0"/>
              <a:t>    &lt;p class="very-fast"&gt;This paragraph will fade in/out with very fast speed.&lt;/p&gt;</a:t>
            </a:r>
          </a:p>
          <a:p>
            <a:pPr eaLnBrk="1" hangingPunct="1"/>
            <a:r>
              <a:rPr lang="en-US" altLang="en-US" smtClean="0"/>
              <a:t>    &lt;p class="normal"&gt;This paragraph will fade in/out with default speed.&lt;/p&gt;</a:t>
            </a:r>
          </a:p>
          <a:p>
            <a:pPr eaLnBrk="1" hangingPunct="1"/>
            <a:r>
              <a:rPr lang="en-US" altLang="en-US" smtClean="0"/>
              <a:t>    &lt;p class="fast"&gt;This paragraph will fade in/out with fast speed.&lt;/p&gt;</a:t>
            </a:r>
          </a:p>
          <a:p>
            <a:pPr eaLnBrk="1" hangingPunct="1"/>
            <a:r>
              <a:rPr lang="en-US" altLang="en-US" smtClean="0"/>
              <a:t>    &lt;p class="slow"&gt;This paragraph will fade in/out with slow speed.&lt;/p&gt;</a:t>
            </a:r>
          </a:p>
          <a:p>
            <a:pPr eaLnBrk="1" hangingPunct="1"/>
            <a:r>
              <a:rPr lang="en-US" altLang="en-US" smtClean="0"/>
              <a:t>    &lt;p class="very-slow"&gt;This paragraph will fade in/out with very slow speed.&lt;/p&gt;</a:t>
            </a:r>
          </a:p>
          <a:p>
            <a:pPr eaLnBrk="1" hangingPunct="1"/>
            <a:r>
              <a:rPr lang="en-US" altLang="en-US" smtClean="0"/>
              <a:t>&lt;/body&gt;</a:t>
            </a:r>
          </a:p>
        </p:txBody>
      </p:sp>
      <p:sp>
        <p:nvSpPr>
          <p:cNvPr id="46084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3732265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48132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21698752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50180" name="Footer Placeholder 1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17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</a:rPr>
              <a:t>SIRIM STS SDN. BHD.</a:t>
            </a:r>
          </a:p>
        </p:txBody>
      </p:sp>
    </p:spTree>
    <p:extLst>
      <p:ext uri="{BB962C8B-B14F-4D97-AF65-F5344CB8AC3E}">
        <p14:creationId xmlns:p14="http://schemas.microsoft.com/office/powerpoint/2010/main" val="754075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063E471-3A4E-45A0-A900-43CE158B830B}" type="datetimeFigureOut">
              <a:rPr lang="en-MY" smtClean="0"/>
              <a:t>31/5/2024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0773-C88A-4448-87AF-7362D7E95B47}" type="slidenum">
              <a:rPr lang="en-MY" smtClean="0"/>
              <a:t>‹#›</a:t>
            </a:fld>
            <a:endParaRPr lang="en-MY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168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3E471-3A4E-45A0-A900-43CE158B830B}" type="datetimeFigureOut">
              <a:rPr lang="en-MY" smtClean="0"/>
              <a:t>31/5/2024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0773-C88A-4448-87AF-7362D7E95B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5351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3E471-3A4E-45A0-A900-43CE158B830B}" type="datetimeFigureOut">
              <a:rPr lang="en-MY" smtClean="0"/>
              <a:t>31/5/2024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0773-C88A-4448-87AF-7362D7E95B47}" type="slidenum">
              <a:rPr lang="en-MY" smtClean="0"/>
              <a:t>‹#›</a:t>
            </a:fld>
            <a:endParaRPr lang="en-MY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9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3E471-3A4E-45A0-A900-43CE158B830B}" type="datetimeFigureOut">
              <a:rPr lang="en-MY" smtClean="0"/>
              <a:t>31/5/2024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0773-C88A-4448-87AF-7362D7E95B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9075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3E471-3A4E-45A0-A900-43CE158B830B}" type="datetimeFigureOut">
              <a:rPr lang="en-MY" smtClean="0"/>
              <a:t>31/5/2024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0773-C88A-4448-87AF-7362D7E95B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66765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3E471-3A4E-45A0-A900-43CE158B830B}" type="datetimeFigureOut">
              <a:rPr lang="en-MY" smtClean="0"/>
              <a:t>31/5/2024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0773-C88A-4448-87AF-7362D7E95B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39936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3E471-3A4E-45A0-A900-43CE158B830B}" type="datetimeFigureOut">
              <a:rPr lang="en-MY" smtClean="0"/>
              <a:t>31/5/2024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0773-C88A-4448-87AF-7362D7E95B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7021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3E471-3A4E-45A0-A900-43CE158B830B}" type="datetimeFigureOut">
              <a:rPr lang="en-MY" smtClean="0"/>
              <a:t>31/5/2024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0773-C88A-4448-87AF-7362D7E95B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58665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3E471-3A4E-45A0-A900-43CE158B830B}" type="datetimeFigureOut">
              <a:rPr lang="en-MY" smtClean="0"/>
              <a:t>31/5/2024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0773-C88A-4448-87AF-7362D7E95B47}" type="slidenum">
              <a:rPr lang="en-MY" smtClean="0"/>
              <a:t>‹#›</a:t>
            </a:fld>
            <a:endParaRPr lang="en-MY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3E471-3A4E-45A0-A900-43CE158B830B}" type="datetimeFigureOut">
              <a:rPr lang="en-MY" smtClean="0"/>
              <a:t>31/5/2024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0773-C88A-4448-87AF-7362D7E95B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60569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3E471-3A4E-45A0-A900-43CE158B830B}" type="datetimeFigureOut">
              <a:rPr lang="en-MY" smtClean="0"/>
              <a:t>31/5/2024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0773-C88A-4448-87AF-7362D7E95B47}" type="slidenum">
              <a:rPr lang="en-MY" smtClean="0"/>
              <a:t>‹#›</a:t>
            </a:fld>
            <a:endParaRPr lang="en-MY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697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30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68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063E471-3A4E-45A0-A900-43CE158B830B}" type="datetimeFigureOut">
              <a:rPr lang="en-MY" smtClean="0"/>
              <a:t>31/5/2024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A920773-C88A-4448-87AF-7362D7E95B47}" type="slidenum">
              <a:rPr lang="en-MY" smtClean="0"/>
              <a:t>‹#›</a:t>
            </a:fld>
            <a:endParaRPr lang="en-MY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29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query.com/download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tutorialrepublic.com/html-reference/html-script-tag.ph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utorialrepublic.com/css-reference/css-top-property.php" TargetMode="External"/><Relationship Id="rId3" Type="http://schemas.openxmlformats.org/officeDocument/2006/relationships/hyperlink" Target="https://www.tutorialrepublic.com/css-reference/css-width-property.php" TargetMode="External"/><Relationship Id="rId7" Type="http://schemas.openxmlformats.org/officeDocument/2006/relationships/hyperlink" Target="https://www.tutorialrepublic.com/css-reference/css-opacity-property.php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tutorialrepublic.com/css-reference/css-padding-property.php" TargetMode="External"/><Relationship Id="rId11" Type="http://schemas.openxmlformats.org/officeDocument/2006/relationships/hyperlink" Target="https://www.tutorialrepublic.com/css-reference/css-background-color-property.php" TargetMode="External"/><Relationship Id="rId5" Type="http://schemas.openxmlformats.org/officeDocument/2006/relationships/hyperlink" Target="https://www.tutorialrepublic.com/css-reference/css-margin-property.php" TargetMode="External"/><Relationship Id="rId10" Type="http://schemas.openxmlformats.org/officeDocument/2006/relationships/hyperlink" Target="https://www.tutorialrepublic.com/css-reference/css-color-property.php" TargetMode="External"/><Relationship Id="rId4" Type="http://schemas.openxmlformats.org/officeDocument/2006/relationships/hyperlink" Target="https://www.tutorialrepublic.com/css-reference/css-height-property.php" TargetMode="External"/><Relationship Id="rId9" Type="http://schemas.openxmlformats.org/officeDocument/2006/relationships/hyperlink" Target="https://www.tutorialrepublic.com/css-reference/css-left-property.php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utorialrepublic.com/css-reference/css-top-property.php" TargetMode="External"/><Relationship Id="rId3" Type="http://schemas.openxmlformats.org/officeDocument/2006/relationships/hyperlink" Target="https://www.tutorialrepublic.com/css-reference/css-width-property.php" TargetMode="External"/><Relationship Id="rId7" Type="http://schemas.openxmlformats.org/officeDocument/2006/relationships/hyperlink" Target="https://www.tutorialrepublic.com/css-reference/css-opacity-property.php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tutorialrepublic.com/css-reference/css-padding-property.php" TargetMode="External"/><Relationship Id="rId11" Type="http://schemas.openxmlformats.org/officeDocument/2006/relationships/hyperlink" Target="https://www.tutorialrepublic.com/css-reference/css-background-color-property.php" TargetMode="External"/><Relationship Id="rId5" Type="http://schemas.openxmlformats.org/officeDocument/2006/relationships/hyperlink" Target="https://www.tutorialrepublic.com/css-reference/css-margin-property.php" TargetMode="External"/><Relationship Id="rId10" Type="http://schemas.openxmlformats.org/officeDocument/2006/relationships/hyperlink" Target="https://www.tutorialrepublic.com/css-reference/css-color-property.php" TargetMode="External"/><Relationship Id="rId4" Type="http://schemas.openxmlformats.org/officeDocument/2006/relationships/hyperlink" Target="https://www.tutorialrepublic.com/css-reference/css-height-property.php" TargetMode="External"/><Relationship Id="rId9" Type="http://schemas.openxmlformats.org/officeDocument/2006/relationships/hyperlink" Target="https://www.tutorialrepublic.com/css-reference/css-left-property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</a:t>
            </a:r>
            <a:r>
              <a:rPr lang="en-US" altLang="en-US" smtClean="0"/>
              <a:t>4C. </a:t>
            </a:r>
            <a:r>
              <a:rPr lang="en-US" altLang="en-US" dirty="0" smtClean="0"/>
              <a:t>jQuery</a:t>
            </a:r>
          </a:p>
        </p:txBody>
      </p:sp>
    </p:spTree>
    <p:extLst>
      <p:ext uri="{BB962C8B-B14F-4D97-AF65-F5344CB8AC3E}">
        <p14:creationId xmlns:p14="http://schemas.microsoft.com/office/powerpoint/2010/main" val="385481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438400" y="1538289"/>
            <a:ext cx="7772400" cy="5083175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75000"/>
              </a:spcBef>
              <a:buFontTx/>
              <a:buChar char="•"/>
              <a:defRPr/>
            </a:pPr>
            <a:r>
              <a:rPr lang="en-US" sz="2400" kern="0" dirty="0">
                <a:latin typeface="Arial" charset="0"/>
                <a:cs typeface="Arial" charset="0"/>
              </a:rPr>
              <a:t>jQuery Library</a:t>
            </a:r>
          </a:p>
          <a:p>
            <a:pPr marL="342900" indent="-342900">
              <a:lnSpc>
                <a:spcPct val="90000"/>
              </a:lnSpc>
              <a:spcBef>
                <a:spcPct val="75000"/>
              </a:spcBef>
              <a:buFontTx/>
              <a:buChar char="•"/>
              <a:defRPr/>
            </a:pPr>
            <a:r>
              <a:rPr lang="en-US" sz="2400" kern="0" dirty="0">
                <a:latin typeface="Arial" charset="0"/>
                <a:cs typeface="Arial" charset="0"/>
              </a:rPr>
              <a:t>jQuery Event</a:t>
            </a:r>
          </a:p>
          <a:p>
            <a:pPr marL="342900" indent="-342900">
              <a:lnSpc>
                <a:spcPct val="90000"/>
              </a:lnSpc>
              <a:spcBef>
                <a:spcPct val="75000"/>
              </a:spcBef>
              <a:buFontTx/>
              <a:buChar char="•"/>
              <a:defRPr/>
            </a:pPr>
            <a:r>
              <a:rPr lang="en-US" sz="2400" kern="0" dirty="0">
                <a:latin typeface="Arial" charset="0"/>
                <a:cs typeface="Arial" charset="0"/>
              </a:rPr>
              <a:t>jQuery Fading Effects</a:t>
            </a:r>
          </a:p>
          <a:p>
            <a:pPr marL="342900" indent="-342900">
              <a:lnSpc>
                <a:spcPct val="90000"/>
              </a:lnSpc>
              <a:spcBef>
                <a:spcPct val="75000"/>
              </a:spcBef>
              <a:buFontTx/>
              <a:buChar char="•"/>
              <a:defRPr/>
            </a:pPr>
            <a:r>
              <a:rPr lang="en-US" sz="2400" kern="0" dirty="0">
                <a:latin typeface="Arial" charset="0"/>
                <a:cs typeface="Arial" charset="0"/>
              </a:rPr>
              <a:t>jQuery Animation Effects</a:t>
            </a:r>
          </a:p>
          <a:p>
            <a:pPr>
              <a:lnSpc>
                <a:spcPct val="90000"/>
              </a:lnSpc>
              <a:spcBef>
                <a:spcPct val="75000"/>
              </a:spcBef>
              <a:defRPr/>
            </a:pPr>
            <a:endParaRPr lang="en-US" sz="2400" kern="0" dirty="0">
              <a:latin typeface="Arial" charset="0"/>
              <a:cs typeface="Arial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981200" y="173038"/>
            <a:ext cx="8229600" cy="1143000"/>
          </a:xfrm>
          <a:prstGeom prst="rect">
            <a:avLst/>
          </a:prstGeom>
        </p:spPr>
        <p:txBody>
          <a:bodyPr anchor="ctr"/>
          <a:lstStyle/>
          <a:p>
            <a:pPr algn="ctr" eaLnBrk="1" hangingPunct="1">
              <a:defRPr/>
            </a:pPr>
            <a:r>
              <a:rPr lang="en-US" sz="3200" b="1" kern="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51607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jQuery Library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893396" y="2084832"/>
            <a:ext cx="9804618" cy="3296465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jQuery is a fast, lightweight, and feature-rich JavaScript library that is based on the principle </a:t>
            </a:r>
            <a:r>
              <a:rPr lang="en-US" altLang="en-US" sz="3200" i="1" dirty="0"/>
              <a:t>"write less, do more"</a:t>
            </a:r>
            <a:r>
              <a:rPr lang="en-US" altLang="en-US" sz="3200" dirty="0"/>
              <a:t>. </a:t>
            </a:r>
          </a:p>
          <a:p>
            <a:r>
              <a:rPr lang="en-US" altLang="en-US" sz="3200" dirty="0"/>
              <a:t>It's easy-to-use APIs makes the things like HTML document traversal and manipulation, event handling, adding animation effects to a web page much simpler that works seamlessly across all the major browsers like Chrome, Firefox, Safari, Internet Explorer, </a:t>
            </a:r>
            <a:r>
              <a:rPr lang="en-US" altLang="en-US" sz="3200" dirty="0" err="1"/>
              <a:t>etc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60377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jQuery Intro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982787" y="2084832"/>
            <a:ext cx="8761413" cy="4201620"/>
          </a:xfrm>
        </p:spPr>
        <p:txBody>
          <a:bodyPr/>
          <a:lstStyle/>
          <a:p>
            <a:r>
              <a:rPr lang="en-US" altLang="en-US" sz="2800" dirty="0"/>
              <a:t>jQuery also gives you the ability to create an Ajax based application in a quick and simple way. Big companies like Google, Microsoft and IBM are using the jQuery for their applications. So you can easily understand how popular and powerful the jQuery is?</a:t>
            </a:r>
          </a:p>
          <a:p>
            <a:r>
              <a:rPr lang="en-US" altLang="en-US" sz="2800" dirty="0"/>
              <a:t>jQuery was originally created by John </a:t>
            </a:r>
            <a:r>
              <a:rPr lang="en-US" altLang="en-US" sz="2800" dirty="0" err="1"/>
              <a:t>Resig</a:t>
            </a:r>
            <a:r>
              <a:rPr lang="en-US" altLang="en-US" sz="2800" dirty="0"/>
              <a:t> in early 2006. </a:t>
            </a:r>
          </a:p>
          <a:p>
            <a:r>
              <a:rPr lang="en-US" altLang="en-US" sz="2800" dirty="0"/>
              <a:t>The jQuery project is currently run and maintained by a distributed group of developers as an open-source project.</a:t>
            </a:r>
          </a:p>
          <a:p>
            <a:r>
              <a:rPr lang="en-US" altLang="en-US" sz="2800" dirty="0"/>
              <a:t>You can save a lot of time and effort with jQuery.</a:t>
            </a:r>
            <a:r>
              <a:rPr lang="en-US" altLang="en-US" sz="24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1635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jQuery: A Popular Framework</a:t>
            </a:r>
          </a:p>
        </p:txBody>
      </p:sp>
      <p:pic>
        <p:nvPicPr>
          <p:cNvPr id="12291" name="Content Placeholder 5" descr="4812610001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857" b="-18857"/>
          <a:stretch>
            <a:fillRect/>
          </a:stretch>
        </p:blipFill>
        <p:spPr bwMode="auto">
          <a:xfrm>
            <a:off x="2895600" y="1460501"/>
            <a:ext cx="6400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TextBox 4"/>
          <p:cNvSpPr txBox="1">
            <a:spLocks noChangeArrowheads="1"/>
          </p:cNvSpPr>
          <p:nvPr/>
        </p:nvSpPr>
        <p:spPr bwMode="auto">
          <a:xfrm>
            <a:off x="2138364" y="5778501"/>
            <a:ext cx="7915275" cy="2778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75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▫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Source from Randy Connolly and Ricardo Hoar, “Fundamentals of Web Development”,2</a:t>
            </a:r>
            <a:r>
              <a:rPr lang="en-US" altLang="en-US" sz="1200" baseline="30000"/>
              <a:t>nd</a:t>
            </a:r>
            <a:r>
              <a:rPr lang="en-US" altLang="en-US" sz="1200"/>
              <a:t> edition, 2018, Pearson</a:t>
            </a:r>
          </a:p>
        </p:txBody>
      </p:sp>
    </p:spTree>
    <p:extLst>
      <p:ext uri="{BB962C8B-B14F-4D97-AF65-F5344CB8AC3E}">
        <p14:creationId xmlns:p14="http://schemas.microsoft.com/office/powerpoint/2010/main" val="2279215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19806" y="271464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What can you do with jQuery</a:t>
            </a:r>
          </a:p>
        </p:txBody>
      </p:sp>
      <p:sp>
        <p:nvSpPr>
          <p:cNvPr id="14339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795464" y="1414464"/>
            <a:ext cx="9576729" cy="481488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2400" dirty="0"/>
              <a:t>There are lot more things you can do with jQuery.</a:t>
            </a:r>
          </a:p>
          <a:p>
            <a:pPr lvl="1">
              <a:spcBef>
                <a:spcPct val="0"/>
              </a:spcBef>
            </a:pPr>
            <a:r>
              <a:rPr lang="en-US" altLang="en-US" sz="2400" dirty="0"/>
              <a:t>You can easily select elements to perform manipulation.</a:t>
            </a:r>
          </a:p>
          <a:p>
            <a:pPr lvl="1"/>
            <a:r>
              <a:rPr lang="en-US" altLang="en-US" sz="2400" dirty="0"/>
              <a:t>You can easily create effect like show or hide elements, sliding transition, and so on.</a:t>
            </a:r>
          </a:p>
          <a:p>
            <a:pPr lvl="1"/>
            <a:r>
              <a:rPr lang="en-US" altLang="en-US" sz="2400" dirty="0"/>
              <a:t>You can easily create complex CSS animation with fewer lines of code.</a:t>
            </a:r>
          </a:p>
          <a:p>
            <a:pPr lvl="1"/>
            <a:r>
              <a:rPr lang="en-US" altLang="en-US" sz="2400" dirty="0"/>
              <a:t>You can easily manipulate DOM elements and their attributes.</a:t>
            </a:r>
          </a:p>
          <a:p>
            <a:pPr lvl="1"/>
            <a:r>
              <a:rPr lang="en-US" altLang="en-US" sz="2400" dirty="0"/>
              <a:t>You can easily implement Ajax to enable asynchronous data exchange between client and server.</a:t>
            </a:r>
          </a:p>
          <a:p>
            <a:pPr lvl="1"/>
            <a:r>
              <a:rPr lang="en-US" altLang="en-US" sz="2400" dirty="0"/>
              <a:t>You can easily traverse all around the DOM tree to locate any element.</a:t>
            </a:r>
          </a:p>
          <a:p>
            <a:pPr lvl="1"/>
            <a:r>
              <a:rPr lang="en-US" altLang="en-US" sz="2400" dirty="0"/>
              <a:t>You can easily perform multiple actions on an element with a single line of code.</a:t>
            </a:r>
          </a:p>
          <a:p>
            <a:pPr lvl="1"/>
            <a:r>
              <a:rPr lang="en-US" altLang="en-US" sz="2400" dirty="0"/>
              <a:t>You can easily get or set dimensions of the HTML elements.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3426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88" y="12382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Advantages using jQuery</a:t>
            </a:r>
          </a:p>
        </p:txBody>
      </p:sp>
      <p:sp>
        <p:nvSpPr>
          <p:cNvPr id="16387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795464" y="1414464"/>
            <a:ext cx="9744895" cy="4814887"/>
          </a:xfrm>
        </p:spPr>
        <p:txBody>
          <a:bodyPr>
            <a:normAutofit lnSpcReduction="10000"/>
          </a:bodyPr>
          <a:lstStyle/>
          <a:p>
            <a:r>
              <a:rPr lang="en-US" altLang="en-US" sz="2400" b="1" dirty="0"/>
              <a:t>Save lots of time</a:t>
            </a:r>
            <a:r>
              <a:rPr lang="en-US" altLang="en-US" sz="2400" dirty="0"/>
              <a:t> — You can save lots of time and efforts by using the jQuery inbuilt effects and selectors and concentrate on other development work.</a:t>
            </a:r>
          </a:p>
          <a:p>
            <a:r>
              <a:rPr lang="en-US" altLang="en-US" sz="2400" b="1" dirty="0"/>
              <a:t>Simplify common JavaScript tasks</a:t>
            </a:r>
            <a:r>
              <a:rPr lang="en-US" altLang="en-US" sz="2400" dirty="0"/>
              <a:t> — jQuery considerably simplifies the common JavaScript tasks. Now you can easily create feature rich and interactive web pages with fewer lines of codes, a typical example is implementing Ajax to update the content of a page without refreshing it.</a:t>
            </a:r>
          </a:p>
          <a:p>
            <a:r>
              <a:rPr lang="en-US" altLang="en-US" sz="2400" b="1" dirty="0"/>
              <a:t>Easy to use</a:t>
            </a:r>
            <a:r>
              <a:rPr lang="en-US" altLang="en-US" sz="2400" dirty="0"/>
              <a:t> — jQuery is very easy to use. Anybody with the basic working knowledge of HTML, CSS and JavaScript can start development with jQuery.</a:t>
            </a:r>
          </a:p>
          <a:p>
            <a:r>
              <a:rPr lang="en-US" altLang="en-US" sz="2400" b="1" dirty="0"/>
              <a:t>Compatible with browsers</a:t>
            </a:r>
            <a:r>
              <a:rPr lang="en-US" altLang="en-US" sz="2400" dirty="0"/>
              <a:t> — jQuery is created with modern browsers in mind and it is compatible with all major modern browsers such as Chrome, Firefox, Safari, Internet Explorer, etc.</a:t>
            </a:r>
          </a:p>
          <a:p>
            <a:r>
              <a:rPr lang="en-US" altLang="en-US" sz="2400" b="1" dirty="0"/>
              <a:t>Absolutely Free</a:t>
            </a:r>
            <a:r>
              <a:rPr lang="en-US" altLang="en-US" sz="2400" dirty="0"/>
              <a:t> — And the best part is, it is completely free to download and use.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3787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51338" y="345036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Including jQuery</a:t>
            </a:r>
          </a:p>
        </p:txBody>
      </p:sp>
      <p:sp>
        <p:nvSpPr>
          <p:cNvPr id="12291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764506" y="1488036"/>
            <a:ext cx="8662987" cy="4814887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800" dirty="0">
                <a:cs typeface="Arial" panose="020B0604020202020204" pitchFamily="34" charset="0"/>
              </a:rPr>
              <a:t>You can download jQuery from here: </a:t>
            </a:r>
            <a:r>
              <a:rPr lang="en-US" altLang="en-US" sz="2800" dirty="0">
                <a:cs typeface="Arial" panose="020B0604020202020204" pitchFamily="34" charset="0"/>
                <a:hlinkClick r:id="rId3"/>
              </a:rPr>
              <a:t>https://jquery.com/download/</a:t>
            </a:r>
            <a:endParaRPr lang="en-US" altLang="en-US" sz="2800" dirty="0"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None/>
              <a:defRPr/>
            </a:pPr>
            <a:endParaRPr lang="en-US" altLang="en-US" sz="2800" dirty="0"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US" altLang="en-US" sz="2800" dirty="0">
                <a:cs typeface="Arial" panose="020B0604020202020204" pitchFamily="34" charset="0"/>
              </a:rPr>
              <a:t>Once you've downloaded the jQuery file you can see it has .</a:t>
            </a:r>
            <a:r>
              <a:rPr lang="en-US" altLang="en-US" sz="2800" dirty="0" err="1">
                <a:cs typeface="Arial" panose="020B0604020202020204" pitchFamily="34" charset="0"/>
              </a:rPr>
              <a:t>js</a:t>
            </a:r>
            <a:r>
              <a:rPr lang="en-US" altLang="en-US" sz="2800" dirty="0">
                <a:cs typeface="Arial" panose="020B0604020202020204" pitchFamily="34" charset="0"/>
              </a:rPr>
              <a:t> extension, because the jQuery is just a JavaScript library, therefore you can include the jQuery file in your HTML document with the </a:t>
            </a:r>
            <a:r>
              <a:rPr lang="en-US" altLang="en-US" sz="2800" dirty="0">
                <a:cs typeface="Arial" panose="020B0604020202020204" pitchFamily="34" charset="0"/>
                <a:hlinkClick r:id="rId4"/>
              </a:rPr>
              <a:t>&lt;script&gt;</a:t>
            </a:r>
            <a:r>
              <a:rPr lang="en-US" altLang="en-US" sz="2800" dirty="0">
                <a:cs typeface="Arial" panose="020B0604020202020204" pitchFamily="34" charset="0"/>
              </a:rPr>
              <a:t> element just like you include normal JavaScript files.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80000"/>
              </a:lnSpc>
              <a:defRPr/>
            </a:pPr>
            <a:endParaRPr lang="en-US" sz="24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4521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25214" y="271463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Including jQuery from CDN</a:t>
            </a:r>
          </a:p>
        </p:txBody>
      </p:sp>
      <p:sp>
        <p:nvSpPr>
          <p:cNvPr id="20483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795464" y="1414463"/>
            <a:ext cx="9513667" cy="4578350"/>
          </a:xfrm>
        </p:spPr>
        <p:txBody>
          <a:bodyPr/>
          <a:lstStyle/>
          <a:p>
            <a:r>
              <a:rPr lang="en-US" altLang="en-US" sz="2800" dirty="0"/>
              <a:t>Alternatively, you can include jQuery in your document through freely available CDN (Content Delivery Network) links, if you don't want to download and host jQuery yourself.</a:t>
            </a:r>
          </a:p>
          <a:p>
            <a:r>
              <a:rPr lang="en-US" altLang="en-US" sz="2800" dirty="0"/>
              <a:t>CDNs can offer a performance benefit by reducing the loading time, because they are hosting jQuery on multiple servers spread across the globe and when a user requests the file, it will be served from the server nearest to them.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  <p:sp>
        <p:nvSpPr>
          <p:cNvPr id="20484" name="TextBox 1"/>
          <p:cNvSpPr txBox="1">
            <a:spLocks noChangeArrowheads="1"/>
          </p:cNvSpPr>
          <p:nvPr/>
        </p:nvSpPr>
        <p:spPr bwMode="auto">
          <a:xfrm>
            <a:off x="1674814" y="5068889"/>
            <a:ext cx="8842375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75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▫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/>
              <a:t>&lt;script src="</a:t>
            </a:r>
            <a:r>
              <a:rPr lang="en-MY" altLang="en-US" sz="2000"/>
              <a:t>https://ajax.googleapis.com/ajax/libs/jquery/3.6.0/jquery.min.js</a:t>
            </a:r>
            <a:r>
              <a:rPr lang="en-US" altLang="en-US" sz="2000"/>
              <a:t>"&gt;</a:t>
            </a:r>
            <a:br>
              <a:rPr lang="en-US" altLang="en-US" sz="2000"/>
            </a:br>
            <a:r>
              <a:rPr lang="en-US" altLang="en-US" sz="200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40128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840828" y="173038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jQuery Syntax</a:t>
            </a:r>
          </a:p>
        </p:txBody>
      </p:sp>
      <p:sp>
        <p:nvSpPr>
          <p:cNvPr id="22531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890714" y="1316038"/>
            <a:ext cx="9302803" cy="5237162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400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The jQuery syntax is tailor-made for selecting HTML elements and performing some action on the element(s).</a:t>
            </a:r>
          </a:p>
          <a:p>
            <a:pPr>
              <a:spcBef>
                <a:spcPct val="0"/>
              </a:spcBef>
            </a:pPr>
            <a:endParaRPr lang="en-US" altLang="en-US" sz="2400" dirty="0">
              <a:solidFill>
                <a:srgbClr val="414141"/>
              </a:solidFill>
              <a:latin typeface="-apple-system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n-US" altLang="en-US" sz="2400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Basic syntax is: </a:t>
            </a:r>
            <a:r>
              <a:rPr lang="en-US" altLang="en-US" sz="2400" b="1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$(selector).action()</a:t>
            </a:r>
          </a:p>
          <a:p>
            <a:pPr>
              <a:spcBef>
                <a:spcPct val="0"/>
              </a:spcBef>
            </a:pPr>
            <a:endParaRPr lang="en-US" altLang="en-US" sz="2400" dirty="0">
              <a:solidFill>
                <a:srgbClr val="414141"/>
              </a:solidFill>
              <a:latin typeface="-apple-system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A $ sign to define/access jQuery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A (selector) to "query (or find)" HTML elements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A jQuery action() to be performed on the element(s)</a:t>
            </a:r>
          </a:p>
          <a:p>
            <a:pPr>
              <a:spcBef>
                <a:spcPct val="0"/>
              </a:spcBef>
            </a:pPr>
            <a:r>
              <a:rPr lang="en-US" altLang="en-US" sz="2400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Examples:</a:t>
            </a:r>
          </a:p>
          <a:p>
            <a:pPr>
              <a:spcBef>
                <a:spcPct val="0"/>
              </a:spcBef>
            </a:pPr>
            <a:endParaRPr lang="en-US" altLang="en-US" sz="2400" dirty="0">
              <a:solidFill>
                <a:srgbClr val="414141"/>
              </a:solidFill>
              <a:latin typeface="-apple-system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n-US" altLang="en-US" sz="2400" i="1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$(this).hide() </a:t>
            </a:r>
            <a:r>
              <a:rPr lang="en-US" altLang="en-US" sz="2400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- hides the current element.</a:t>
            </a:r>
          </a:p>
          <a:p>
            <a:pPr>
              <a:spcBef>
                <a:spcPct val="0"/>
              </a:spcBef>
            </a:pPr>
            <a:r>
              <a:rPr lang="en-US" altLang="en-US" sz="2400" i="1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$("p").hide()</a:t>
            </a:r>
            <a:r>
              <a:rPr lang="en-US" altLang="en-US" sz="2400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 - hides all &lt;p&gt; elements.</a:t>
            </a:r>
          </a:p>
          <a:p>
            <a:pPr>
              <a:spcBef>
                <a:spcPct val="0"/>
              </a:spcBef>
            </a:pPr>
            <a:r>
              <a:rPr lang="en-US" altLang="en-US" sz="2400" i="1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$(".test").hide() </a:t>
            </a:r>
            <a:r>
              <a:rPr lang="en-US" altLang="en-US" sz="2400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- hides all elements with class="test".</a:t>
            </a:r>
          </a:p>
          <a:p>
            <a:pPr>
              <a:spcBef>
                <a:spcPct val="0"/>
              </a:spcBef>
            </a:pPr>
            <a:r>
              <a:rPr lang="en-US" altLang="en-US" sz="2400" i="1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$("#test").hide() </a:t>
            </a:r>
            <a:r>
              <a:rPr lang="en-US" altLang="en-US" sz="2400" dirty="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- hides the element with id="test".</a:t>
            </a: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3008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893379" y="271463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jQuery Syntax Continue…</a:t>
            </a:r>
          </a:p>
        </p:txBody>
      </p:sp>
      <p:sp>
        <p:nvSpPr>
          <p:cNvPr id="24579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795464" y="1414463"/>
            <a:ext cx="8662987" cy="457835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40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A jQuery statement typically starts with the dollar sign (</a:t>
            </a:r>
            <a:r>
              <a:rPr lang="en-US" altLang="en-US" sz="240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$</a:t>
            </a:r>
            <a:r>
              <a:rPr lang="en-US" altLang="en-US" sz="240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) and ends with a semicolon (</a:t>
            </a:r>
            <a:r>
              <a:rPr lang="en-US" altLang="en-US" sz="240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r>
              <a:rPr lang="en-US" altLang="en-US" sz="240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).</a:t>
            </a:r>
          </a:p>
          <a:p>
            <a:pPr>
              <a:spcBef>
                <a:spcPct val="0"/>
              </a:spcBef>
            </a:pPr>
            <a:endParaRPr lang="en-US" altLang="en-US" sz="800">
              <a:solidFill>
                <a:srgbClr val="FF3300"/>
              </a:solidFill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n-US" altLang="en-US" sz="240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In jQuery, the dollar sign (</a:t>
            </a:r>
            <a:r>
              <a:rPr lang="en-US" altLang="en-US" sz="240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$</a:t>
            </a:r>
            <a:r>
              <a:rPr lang="en-US" altLang="en-US" sz="2400">
                <a:solidFill>
                  <a:srgbClr val="414141"/>
                </a:solidFill>
                <a:latin typeface="-apple-system"/>
                <a:cs typeface="Arial" panose="020B0604020202020204" pitchFamily="34" charset="0"/>
              </a:rPr>
              <a:t>) is just an alias for jQuery.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endParaRPr lang="en-US" altLang="en-US" sz="2400"/>
          </a:p>
          <a:p>
            <a:pPr eaLnBrk="1" hangingPunct="1">
              <a:lnSpc>
                <a:spcPct val="80000"/>
              </a:lnSpc>
            </a:pPr>
            <a:endParaRPr lang="en-US" altLang="en-US" sz="2400"/>
          </a:p>
        </p:txBody>
      </p:sp>
      <p:sp>
        <p:nvSpPr>
          <p:cNvPr id="24580" name="TextBox 1"/>
          <p:cNvSpPr txBox="1">
            <a:spLocks noChangeArrowheads="1"/>
          </p:cNvSpPr>
          <p:nvPr/>
        </p:nvSpPr>
        <p:spPr bwMode="auto">
          <a:xfrm>
            <a:off x="3200400" y="2900364"/>
            <a:ext cx="4408488" cy="3786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75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▫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&lt;head&gt;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&lt;script&gt;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$(document).ready(function(){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 $("p").text("Hello World!");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 });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 &lt;/script&gt;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 &lt;/head&gt;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&lt;body&gt;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 &lt;p&gt;Not loaded yet.&lt;/p&gt;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 &lt;/body&gt;</a:t>
            </a:r>
          </a:p>
        </p:txBody>
      </p:sp>
    </p:spTree>
    <p:extLst>
      <p:ext uri="{BB962C8B-B14F-4D97-AF65-F5344CB8AC3E}">
        <p14:creationId xmlns:p14="http://schemas.microsoft.com/office/powerpoint/2010/main" val="37243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77765" y="271464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jQuery Selector</a:t>
            </a:r>
          </a:p>
        </p:txBody>
      </p:sp>
      <p:sp>
        <p:nvSpPr>
          <p:cNvPr id="22531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795464" y="1414464"/>
            <a:ext cx="8662987" cy="4814887"/>
          </a:xfrm>
        </p:spPr>
        <p:txBody>
          <a:bodyPr/>
          <a:lstStyle/>
          <a:p>
            <a:pPr>
              <a:defRPr/>
            </a:pPr>
            <a:r>
              <a:rPr lang="en-US" sz="2800" dirty="0" smtClean="0"/>
              <a:t>/* selecting using regular JavaScript */</a:t>
            </a:r>
          </a:p>
          <a:p>
            <a:pPr>
              <a:defRPr/>
            </a:pPr>
            <a:r>
              <a:rPr lang="en-US" sz="2800" dirty="0" err="1" smtClean="0"/>
              <a:t>var</a:t>
            </a:r>
            <a:r>
              <a:rPr lang="en-US" sz="2800" dirty="0" smtClean="0"/>
              <a:t> node = </a:t>
            </a:r>
            <a:r>
              <a:rPr lang="en-US" sz="2800" dirty="0" err="1" smtClean="0"/>
              <a:t>document.getElementById</a:t>
            </a:r>
            <a:r>
              <a:rPr lang="en-US" sz="2800" dirty="0" smtClean="0"/>
              <a:t>("here"); </a:t>
            </a:r>
            <a:br>
              <a:rPr lang="en-US" sz="2800" dirty="0" smtClean="0"/>
            </a:br>
            <a:r>
              <a:rPr lang="en-US" sz="2800" dirty="0" err="1" smtClean="0"/>
              <a:t>var</a:t>
            </a:r>
            <a:r>
              <a:rPr lang="en-US" sz="2800" dirty="0" smtClean="0"/>
              <a:t> link = </a:t>
            </a:r>
            <a:r>
              <a:rPr lang="en-US" sz="2800" dirty="0" err="1" smtClean="0"/>
              <a:t>document.querySelectorAll</a:t>
            </a:r>
            <a:r>
              <a:rPr lang="en-US" sz="2800" dirty="0" smtClean="0"/>
              <a:t>("</a:t>
            </a:r>
            <a:r>
              <a:rPr lang="en-US" sz="2800" dirty="0" err="1" smtClean="0"/>
              <a:t>ul</a:t>
            </a:r>
            <a:r>
              <a:rPr lang="en-US" sz="2800" dirty="0" smtClean="0"/>
              <a:t> li");</a:t>
            </a:r>
          </a:p>
          <a:p>
            <a:pPr>
              <a:defRPr/>
            </a:pPr>
            <a:r>
              <a:rPr lang="en-US" sz="2800" dirty="0" smtClean="0"/>
              <a:t>/* equivalent selection using jQuery */</a:t>
            </a:r>
          </a:p>
          <a:p>
            <a:pPr>
              <a:defRPr/>
            </a:pPr>
            <a:r>
              <a:rPr lang="mr-IN" sz="2800" dirty="0" smtClean="0"/>
              <a:t>var node = $</a:t>
            </a:r>
            <a:r>
              <a:rPr lang="en-CA" sz="2800" dirty="0" smtClean="0"/>
              <a:t>(</a:t>
            </a:r>
            <a:r>
              <a:rPr lang="en-US" sz="2800" dirty="0" smtClean="0"/>
              <a:t>"</a:t>
            </a:r>
            <a:r>
              <a:rPr lang="mr-IN" sz="2800" dirty="0" smtClean="0"/>
              <a:t>#here</a:t>
            </a:r>
            <a:r>
              <a:rPr lang="en-US" sz="2800" dirty="0" smtClean="0"/>
              <a:t>"</a:t>
            </a:r>
            <a:r>
              <a:rPr lang="en-CA" sz="2800" dirty="0" smtClean="0"/>
              <a:t>)</a:t>
            </a:r>
            <a:r>
              <a:rPr lang="mr-IN" sz="2800" dirty="0" smtClean="0"/>
              <a:t>;</a:t>
            </a:r>
            <a:endParaRPr lang="en-CA" sz="2800" dirty="0" smtClean="0"/>
          </a:p>
          <a:p>
            <a:pPr>
              <a:defRPr/>
            </a:pPr>
            <a:r>
              <a:rPr lang="mr-IN" sz="2800" dirty="0" smtClean="0"/>
              <a:t>var link = $</a:t>
            </a:r>
            <a:r>
              <a:rPr lang="en-CA" sz="2800" dirty="0" smtClean="0"/>
              <a:t>(</a:t>
            </a:r>
            <a:r>
              <a:rPr lang="en-US" sz="2800" dirty="0" smtClean="0"/>
              <a:t>"</a:t>
            </a:r>
            <a:r>
              <a:rPr lang="mr-IN" sz="2800" dirty="0" smtClean="0"/>
              <a:t>ul li</a:t>
            </a:r>
            <a:r>
              <a:rPr lang="en-US" sz="2800" dirty="0" smtClean="0"/>
              <a:t>"</a:t>
            </a:r>
            <a:r>
              <a:rPr lang="en-CA" sz="2800" dirty="0" smtClean="0"/>
              <a:t>)</a:t>
            </a:r>
            <a:r>
              <a:rPr lang="mr-IN" sz="2800" dirty="0" smtClean="0"/>
              <a:t>;</a:t>
            </a:r>
            <a:endParaRPr lang="en-CA" sz="2800" dirty="0" smtClean="0"/>
          </a:p>
          <a:p>
            <a:pPr>
              <a:buFont typeface="Arial"/>
              <a:buChar char="•"/>
              <a:defRPr/>
            </a:pPr>
            <a:r>
              <a:rPr lang="en-US" sz="2800" dirty="0" smtClean="0"/>
              <a:t> The </a:t>
            </a:r>
            <a:r>
              <a:rPr lang="en-US" sz="2800" b="1" dirty="0" smtClean="0"/>
              <a:t>$()</a:t>
            </a:r>
            <a:r>
              <a:rPr lang="en-US" sz="2800" dirty="0" smtClean="0"/>
              <a:t>  function always returns a set of results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US" altLang="en-US" sz="2400" dirty="0">
              <a:cs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endParaRPr lang="en-US" altLang="en-US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6686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19503" y="271464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Basic Selector</a:t>
            </a:r>
          </a:p>
        </p:txBody>
      </p:sp>
      <p:sp>
        <p:nvSpPr>
          <p:cNvPr id="22531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795464" y="1414464"/>
            <a:ext cx="9892039" cy="4814887"/>
          </a:xfrm>
        </p:spPr>
        <p:txBody>
          <a:bodyPr/>
          <a:lstStyle/>
          <a:p>
            <a:pPr>
              <a:buFont typeface="Arial"/>
              <a:buChar char="•"/>
              <a:defRPr/>
            </a:pPr>
            <a:r>
              <a:rPr lang="en-US" sz="2800" b="1" dirty="0" smtClean="0"/>
              <a:t>$("*")</a:t>
            </a:r>
            <a:r>
              <a:rPr lang="en-US" sz="2800" dirty="0" smtClean="0"/>
              <a:t>—Universal selector matches all elements (and is slow).</a:t>
            </a:r>
          </a:p>
          <a:p>
            <a:pPr>
              <a:buFont typeface="Arial"/>
              <a:buChar char="•"/>
              <a:defRPr/>
            </a:pPr>
            <a:r>
              <a:rPr lang="en-US" sz="2800" b="1" dirty="0" smtClean="0"/>
              <a:t>$("tag")</a:t>
            </a:r>
            <a:r>
              <a:rPr lang="en-US" sz="2800" dirty="0" smtClean="0"/>
              <a:t>—Element selector matches all elements with the given element name.</a:t>
            </a:r>
          </a:p>
          <a:p>
            <a:pPr>
              <a:buFont typeface="Arial"/>
              <a:buChar char="•"/>
              <a:defRPr/>
            </a:pPr>
            <a:r>
              <a:rPr lang="en-US" sz="2800" b="1" dirty="0" smtClean="0"/>
              <a:t>$(".class")</a:t>
            </a:r>
            <a:r>
              <a:rPr lang="en-US" sz="2800" dirty="0" smtClean="0"/>
              <a:t>—Class selector matches all elements with the given CSS class.</a:t>
            </a:r>
          </a:p>
          <a:p>
            <a:pPr>
              <a:buFont typeface="Arial"/>
              <a:buChar char="•"/>
              <a:defRPr/>
            </a:pPr>
            <a:r>
              <a:rPr lang="en-US" sz="2800" b="1" dirty="0" smtClean="0"/>
              <a:t>$("#id")</a:t>
            </a:r>
            <a:r>
              <a:rPr lang="en-US" sz="2800" dirty="0" smtClean="0"/>
              <a:t>—Id selector matches all elements with a given HTML id attribute</a:t>
            </a:r>
            <a:r>
              <a:rPr lang="en-US" dirty="0" smtClean="0"/>
              <a:t>.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US" altLang="en-US" sz="2400" dirty="0">
              <a:cs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endParaRPr lang="en-US" altLang="en-US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10566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861848" y="267259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Some Example</a:t>
            </a:r>
          </a:p>
        </p:txBody>
      </p:sp>
      <p:pic>
        <p:nvPicPr>
          <p:cNvPr id="30723" name="Content Placeholder 5" descr="4812610002.eps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740" y="1410259"/>
            <a:ext cx="6518246" cy="4034100"/>
          </a:xfrm>
        </p:spPr>
      </p:pic>
      <p:sp>
        <p:nvSpPr>
          <p:cNvPr id="30724" name="TextBox 4"/>
          <p:cNvSpPr txBox="1">
            <a:spLocks noChangeArrowheads="1"/>
          </p:cNvSpPr>
          <p:nvPr/>
        </p:nvSpPr>
        <p:spPr bwMode="auto">
          <a:xfrm>
            <a:off x="1721890" y="5746641"/>
            <a:ext cx="7916862" cy="2778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75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▫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Source from Randy Connolly and Ricardo Hoar, “Fundamentals of Web Development”,2</a:t>
            </a:r>
            <a:r>
              <a:rPr lang="en-US" altLang="en-US" sz="1200" baseline="30000"/>
              <a:t>nd</a:t>
            </a:r>
            <a:r>
              <a:rPr lang="en-US" altLang="en-US" sz="1200"/>
              <a:t> edition, 2018, Pearson</a:t>
            </a:r>
          </a:p>
        </p:txBody>
      </p:sp>
    </p:spTree>
    <p:extLst>
      <p:ext uri="{BB962C8B-B14F-4D97-AF65-F5344CB8AC3E}">
        <p14:creationId xmlns:p14="http://schemas.microsoft.com/office/powerpoint/2010/main" val="4128937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844715" y="231228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Common Element Manipulation</a:t>
            </a:r>
            <a:br>
              <a:rPr lang="en-US" altLang="en-US" dirty="0" smtClean="0"/>
            </a:br>
            <a:r>
              <a:rPr lang="en-US" altLang="en-US" dirty="0" smtClean="0"/>
              <a:t>(HTML attributes)</a:t>
            </a:r>
          </a:p>
        </p:txBody>
      </p:sp>
      <p:sp>
        <p:nvSpPr>
          <p:cNvPr id="32771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248927" y="1813857"/>
            <a:ext cx="10259902" cy="4814887"/>
          </a:xfrm>
        </p:spPr>
        <p:txBody>
          <a:bodyPr/>
          <a:lstStyle/>
          <a:p>
            <a:r>
              <a:rPr lang="en-US" altLang="en-US" sz="2800" dirty="0"/>
              <a:t>We can both set and get an attribute value by using the </a:t>
            </a:r>
            <a:r>
              <a:rPr lang="en-US" altLang="en-US" sz="2800" b="1" dirty="0" err="1"/>
              <a:t>attr</a:t>
            </a:r>
            <a:r>
              <a:rPr lang="en-US" altLang="en-US" sz="2800" b="1" dirty="0"/>
              <a:t>() </a:t>
            </a:r>
            <a:r>
              <a:rPr lang="en-US" altLang="en-US" sz="2800" dirty="0"/>
              <a:t>method.</a:t>
            </a:r>
          </a:p>
          <a:p>
            <a:r>
              <a:rPr lang="en-US" altLang="en-US" sz="2800" dirty="0">
                <a:ea typeface="Monaco"/>
                <a:cs typeface="Monaco"/>
              </a:rPr>
              <a:t>// link is assigned the </a:t>
            </a:r>
            <a:r>
              <a:rPr lang="en-US" altLang="en-US" sz="2800" dirty="0" err="1">
                <a:ea typeface="Monaco"/>
                <a:cs typeface="Monaco"/>
              </a:rPr>
              <a:t>href</a:t>
            </a:r>
            <a:r>
              <a:rPr lang="en-US" altLang="en-US" sz="2800" dirty="0">
                <a:ea typeface="Monaco"/>
                <a:cs typeface="Monaco"/>
              </a:rPr>
              <a:t> attribute of the first &lt;a&gt; tag</a:t>
            </a:r>
          </a:p>
          <a:p>
            <a:r>
              <a:rPr lang="mr-IN" altLang="en-US" sz="2800" dirty="0">
                <a:ea typeface="Monaco"/>
                <a:cs typeface="Monaco"/>
              </a:rPr>
              <a:t>var link = $("a").</a:t>
            </a:r>
            <a:r>
              <a:rPr lang="mr-IN" altLang="en-US" sz="2800" b="1" dirty="0">
                <a:ea typeface="Monaco"/>
                <a:cs typeface="Monaco"/>
              </a:rPr>
              <a:t>attr(</a:t>
            </a:r>
            <a:r>
              <a:rPr lang="mr-IN" altLang="en-US" sz="2800" dirty="0">
                <a:ea typeface="Monaco"/>
                <a:cs typeface="Monaco"/>
              </a:rPr>
              <a:t>"href"</a:t>
            </a:r>
            <a:r>
              <a:rPr lang="mr-IN" altLang="en-US" sz="2800" b="1" dirty="0">
                <a:ea typeface="Monaco"/>
                <a:cs typeface="Monaco"/>
              </a:rPr>
              <a:t>)</a:t>
            </a:r>
            <a:r>
              <a:rPr lang="mr-IN" altLang="en-US" sz="2800" dirty="0">
                <a:ea typeface="Monaco"/>
                <a:cs typeface="Monaco"/>
              </a:rPr>
              <a:t>;</a:t>
            </a:r>
          </a:p>
          <a:p>
            <a:r>
              <a:rPr lang="en-US" altLang="en-US" sz="2800" dirty="0">
                <a:ea typeface="Monaco"/>
                <a:cs typeface="Monaco"/>
              </a:rPr>
              <a:t>// change all links in the page to http://funwebdev.com</a:t>
            </a:r>
          </a:p>
          <a:p>
            <a:r>
              <a:rPr lang="en-US" altLang="en-US" sz="2800" dirty="0">
                <a:ea typeface="Monaco"/>
                <a:cs typeface="Monaco"/>
              </a:rPr>
              <a:t>$("a").</a:t>
            </a:r>
            <a:r>
              <a:rPr lang="en-US" altLang="en-US" sz="2800" b="1" dirty="0" err="1">
                <a:ea typeface="Monaco"/>
                <a:cs typeface="Monaco"/>
              </a:rPr>
              <a:t>attr</a:t>
            </a:r>
            <a:r>
              <a:rPr lang="en-US" altLang="en-US" sz="2800" b="1" dirty="0">
                <a:ea typeface="Monaco"/>
                <a:cs typeface="Monaco"/>
              </a:rPr>
              <a:t>(</a:t>
            </a:r>
            <a:r>
              <a:rPr lang="en-US" altLang="en-US" sz="2800" dirty="0">
                <a:ea typeface="Monaco"/>
                <a:cs typeface="Monaco"/>
              </a:rPr>
              <a:t>"</a:t>
            </a:r>
            <a:r>
              <a:rPr lang="en-US" altLang="en-US" sz="2800" dirty="0" err="1">
                <a:ea typeface="Monaco"/>
                <a:cs typeface="Monaco"/>
              </a:rPr>
              <a:t>href</a:t>
            </a:r>
            <a:r>
              <a:rPr lang="en-US" altLang="en-US" sz="2800" dirty="0">
                <a:ea typeface="Monaco"/>
                <a:cs typeface="Monaco"/>
              </a:rPr>
              <a:t>","http://funwebdev.com"</a:t>
            </a:r>
            <a:r>
              <a:rPr lang="en-US" altLang="en-US" sz="2800" b="1" dirty="0">
                <a:ea typeface="Monaco"/>
                <a:cs typeface="Monaco"/>
              </a:rPr>
              <a:t>)</a:t>
            </a:r>
            <a:r>
              <a:rPr lang="en-US" altLang="en-US" sz="2800" dirty="0">
                <a:ea typeface="Monaco"/>
                <a:cs typeface="Monaco"/>
              </a:rPr>
              <a:t>;</a:t>
            </a:r>
          </a:p>
          <a:p>
            <a:r>
              <a:rPr lang="en-US" altLang="en-US" sz="2800" dirty="0">
                <a:ea typeface="Monaco"/>
                <a:cs typeface="Monaco"/>
              </a:rPr>
              <a:t>// change the class for all images on the page to fancy</a:t>
            </a:r>
          </a:p>
          <a:p>
            <a:r>
              <a:rPr lang="en-US" altLang="en-US" sz="2800" dirty="0">
                <a:ea typeface="Monaco"/>
                <a:cs typeface="Monaco"/>
              </a:rPr>
              <a:t>$("</a:t>
            </a:r>
            <a:r>
              <a:rPr lang="en-US" altLang="en-US" sz="2800" dirty="0" err="1">
                <a:ea typeface="Monaco"/>
                <a:cs typeface="Monaco"/>
              </a:rPr>
              <a:t>img</a:t>
            </a:r>
            <a:r>
              <a:rPr lang="en-US" altLang="en-US" sz="2800" dirty="0">
                <a:ea typeface="Monaco"/>
                <a:cs typeface="Monaco"/>
              </a:rPr>
              <a:t>").</a:t>
            </a:r>
            <a:r>
              <a:rPr lang="en-US" altLang="en-US" sz="2800" b="1" dirty="0" err="1">
                <a:ea typeface="Monaco"/>
                <a:cs typeface="Monaco"/>
              </a:rPr>
              <a:t>attr</a:t>
            </a:r>
            <a:r>
              <a:rPr lang="en-US" altLang="en-US" sz="2800" b="1" dirty="0">
                <a:ea typeface="Monaco"/>
                <a:cs typeface="Monaco"/>
              </a:rPr>
              <a:t>(</a:t>
            </a:r>
            <a:r>
              <a:rPr lang="en-US" altLang="en-US" sz="2800" dirty="0">
                <a:ea typeface="Monaco"/>
                <a:cs typeface="Monaco"/>
              </a:rPr>
              <a:t>"</a:t>
            </a:r>
            <a:r>
              <a:rPr lang="en-US" altLang="en-US" sz="2800" dirty="0" err="1">
                <a:ea typeface="Monaco"/>
                <a:cs typeface="Monaco"/>
              </a:rPr>
              <a:t>class","fancy</a:t>
            </a:r>
            <a:r>
              <a:rPr lang="en-US" altLang="en-US" sz="2800" dirty="0">
                <a:ea typeface="Monaco"/>
                <a:cs typeface="Monaco"/>
              </a:rPr>
              <a:t>");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4339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65735" y="115614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Common Element Manipulation</a:t>
            </a:r>
            <a:br>
              <a:rPr lang="en-US" altLang="en-US" dirty="0" smtClean="0"/>
            </a:br>
            <a:r>
              <a:rPr lang="en-US" altLang="en-US" dirty="0" smtClean="0"/>
              <a:t>(HTML properties)</a:t>
            </a:r>
          </a:p>
        </p:txBody>
      </p:sp>
      <p:sp>
        <p:nvSpPr>
          <p:cNvPr id="34819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795464" y="1414464"/>
            <a:ext cx="9976122" cy="4814887"/>
          </a:xfrm>
        </p:spPr>
        <p:txBody>
          <a:bodyPr/>
          <a:lstStyle/>
          <a:p>
            <a:r>
              <a:rPr lang="en-US" altLang="en-US" sz="2800" dirty="0" smtClean="0"/>
              <a:t>The </a:t>
            </a:r>
            <a:r>
              <a:rPr lang="en-US" altLang="en-US" sz="2800" b="1" dirty="0" smtClean="0"/>
              <a:t>prop()  </a:t>
            </a:r>
            <a:r>
              <a:rPr lang="en-US" altLang="en-US" sz="2800" dirty="0" smtClean="0"/>
              <a:t>method is the preferred way to retrieve and set the value of a property.</a:t>
            </a:r>
          </a:p>
          <a:p>
            <a:r>
              <a:rPr lang="en-US" altLang="en-US" sz="2800" dirty="0" smtClean="0"/>
              <a:t>&lt;input class="</a:t>
            </a:r>
            <a:r>
              <a:rPr lang="en-US" altLang="en-US" sz="2800" b="1" dirty="0" smtClean="0"/>
              <a:t>meh</a:t>
            </a:r>
            <a:r>
              <a:rPr lang="en-US" altLang="en-US" sz="2800" dirty="0" smtClean="0"/>
              <a:t>" type="checkbox" checked="checked"&gt;</a:t>
            </a:r>
          </a:p>
          <a:p>
            <a:endParaRPr lang="en-US" altLang="en-US" sz="2800" dirty="0" smtClean="0"/>
          </a:p>
          <a:p>
            <a:r>
              <a:rPr lang="en-US" altLang="en-US" sz="2800" dirty="0" err="1" smtClean="0"/>
              <a:t>var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theBox</a:t>
            </a:r>
            <a:r>
              <a:rPr lang="en-US" altLang="en-US" sz="2800" dirty="0" smtClean="0"/>
              <a:t> = $(".meh");</a:t>
            </a:r>
          </a:p>
          <a:p>
            <a:r>
              <a:rPr lang="en-US" altLang="en-US" sz="2800" dirty="0" err="1" smtClean="0"/>
              <a:t>theBox.</a:t>
            </a:r>
            <a:r>
              <a:rPr lang="en-US" altLang="en-US" sz="2800" b="1" dirty="0" err="1" smtClean="0"/>
              <a:t>prop</a:t>
            </a:r>
            <a:r>
              <a:rPr lang="en-US" altLang="en-US" sz="2800" b="1" dirty="0" smtClean="0"/>
              <a:t>(</a:t>
            </a:r>
            <a:r>
              <a:rPr lang="en-US" altLang="en-US" sz="2800" dirty="0" smtClean="0"/>
              <a:t>"checked"</a:t>
            </a:r>
            <a:r>
              <a:rPr lang="en-US" altLang="en-US" sz="2800" b="1" dirty="0" smtClean="0"/>
              <a:t>)</a:t>
            </a:r>
            <a:r>
              <a:rPr lang="en-US" altLang="en-US" sz="2800" dirty="0" smtClean="0"/>
              <a:t>; // evaluates to TRUE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05378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813184" y="115614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Common Element Manipulation</a:t>
            </a:r>
            <a:br>
              <a:rPr lang="en-US" altLang="en-US" dirty="0" smtClean="0"/>
            </a:br>
            <a:r>
              <a:rPr lang="en-US" altLang="en-US" dirty="0" smtClean="0"/>
              <a:t>(Changing CSS)</a:t>
            </a:r>
          </a:p>
        </p:txBody>
      </p:sp>
      <p:sp>
        <p:nvSpPr>
          <p:cNvPr id="12291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019504" y="2612643"/>
            <a:ext cx="10594428" cy="3735605"/>
          </a:xfrm>
        </p:spPr>
        <p:txBody>
          <a:bodyPr/>
          <a:lstStyle/>
          <a:p>
            <a:pPr>
              <a:buFont typeface="Arial"/>
              <a:buChar char="•"/>
              <a:defRPr/>
            </a:pPr>
            <a:r>
              <a:rPr lang="en-US" sz="3200" dirty="0"/>
              <a:t>jQuery provides the extremely intuitive </a:t>
            </a:r>
            <a:r>
              <a:rPr lang="en-US" sz="3200" b="1" dirty="0" err="1"/>
              <a:t>css</a:t>
            </a:r>
            <a:r>
              <a:rPr lang="en-US" sz="3200" b="1" dirty="0"/>
              <a:t>()  </a:t>
            </a:r>
            <a:r>
              <a:rPr lang="en-US" sz="3200" dirty="0"/>
              <a:t>method.</a:t>
            </a:r>
          </a:p>
          <a:p>
            <a:pPr>
              <a:defRPr/>
            </a:pPr>
            <a:r>
              <a:rPr lang="en-US" sz="3200" dirty="0" err="1"/>
              <a:t>var</a:t>
            </a:r>
            <a:r>
              <a:rPr lang="en-US" sz="3200" dirty="0"/>
              <a:t> color = $("#element")</a:t>
            </a:r>
            <a:r>
              <a:rPr lang="en-US" sz="3200" b="1" dirty="0"/>
              <a:t>.</a:t>
            </a:r>
            <a:r>
              <a:rPr lang="en-US" sz="3200" b="1" dirty="0" err="1"/>
              <a:t>css</a:t>
            </a:r>
            <a:r>
              <a:rPr lang="en-US" sz="3200" b="1" dirty="0"/>
              <a:t>(</a:t>
            </a:r>
            <a:r>
              <a:rPr lang="en-US" sz="3200" dirty="0"/>
              <a:t>"background-color"</a:t>
            </a:r>
            <a:r>
              <a:rPr lang="en-US" sz="3200" b="1" dirty="0"/>
              <a:t>)</a:t>
            </a:r>
            <a:r>
              <a:rPr lang="en-US" sz="3200" dirty="0"/>
              <a:t>; // get the color</a:t>
            </a:r>
          </a:p>
          <a:p>
            <a:pPr>
              <a:defRPr/>
            </a:pPr>
            <a:r>
              <a:rPr lang="en-US" sz="3200" dirty="0"/>
              <a:t>$("#element").</a:t>
            </a:r>
            <a:r>
              <a:rPr lang="en-US" sz="3200" b="1" dirty="0" err="1"/>
              <a:t>css</a:t>
            </a:r>
            <a:r>
              <a:rPr lang="en-US" sz="3200" b="1" dirty="0"/>
              <a:t>(</a:t>
            </a:r>
            <a:r>
              <a:rPr lang="en-US" sz="3200" dirty="0"/>
              <a:t>"background-color", "red"</a:t>
            </a:r>
            <a:r>
              <a:rPr lang="en-US" sz="3200" b="1" dirty="0"/>
              <a:t>)</a:t>
            </a:r>
            <a:r>
              <a:rPr lang="en-US" sz="3200" dirty="0"/>
              <a:t>; // set color to red</a:t>
            </a:r>
          </a:p>
          <a:p>
            <a:pPr marL="0" indent="0">
              <a:buNone/>
              <a:defRPr/>
            </a:pPr>
            <a:endParaRPr lang="en-US" dirty="0" smtClean="0"/>
          </a:p>
          <a:p>
            <a:pPr lvl="1"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80000"/>
              </a:lnSpc>
              <a:defRPr/>
            </a:pPr>
            <a:endParaRPr lang="en-US" sz="24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55706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809297" y="141507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jQuery Event</a:t>
            </a:r>
          </a:p>
        </p:txBody>
      </p:sp>
      <p:sp>
        <p:nvSpPr>
          <p:cNvPr id="38915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112292" y="1435485"/>
            <a:ext cx="10133777" cy="481488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2800" dirty="0">
                <a:solidFill>
                  <a:srgbClr val="414141"/>
                </a:solidFill>
                <a:cs typeface="Arial" panose="020B0604020202020204" pitchFamily="34" charset="0"/>
              </a:rPr>
              <a:t>Events are often triggered by the user's interaction with the web page, such as when a link or button is clicked, text is entered into an input box or </a:t>
            </a:r>
            <a:r>
              <a:rPr lang="en-US" altLang="en-US" sz="2800" dirty="0" err="1">
                <a:solidFill>
                  <a:srgbClr val="414141"/>
                </a:solidFill>
                <a:cs typeface="Arial" panose="020B0604020202020204" pitchFamily="34" charset="0"/>
              </a:rPr>
              <a:t>textarea</a:t>
            </a:r>
            <a:r>
              <a:rPr lang="en-US" altLang="en-US" sz="2800" dirty="0">
                <a:solidFill>
                  <a:srgbClr val="414141"/>
                </a:solidFill>
                <a:cs typeface="Arial" panose="020B0604020202020204" pitchFamily="34" charset="0"/>
              </a:rPr>
              <a:t>, selection is made in a select box, key is pressed on the keyboard, the mouse pointer is moved etc. </a:t>
            </a:r>
          </a:p>
          <a:p>
            <a:pPr>
              <a:spcBef>
                <a:spcPct val="0"/>
              </a:spcBef>
            </a:pPr>
            <a:endParaRPr lang="en-US" altLang="en-US" sz="2800" dirty="0">
              <a:solidFill>
                <a:srgbClr val="414141"/>
              </a:solidFill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n-US" altLang="en-US" sz="2800" dirty="0">
                <a:solidFill>
                  <a:srgbClr val="414141"/>
                </a:solidFill>
                <a:cs typeface="Arial" panose="020B0604020202020204" pitchFamily="34" charset="0"/>
              </a:rPr>
              <a:t>In some cases, the Browser itself can trigger the events, such as the page load and unload events.</a:t>
            </a:r>
          </a:p>
          <a:p>
            <a:pPr>
              <a:spcBef>
                <a:spcPct val="0"/>
              </a:spcBef>
            </a:pPr>
            <a:endParaRPr lang="en-US" altLang="en-US" sz="2800" dirty="0">
              <a:solidFill>
                <a:srgbClr val="FF3300"/>
              </a:solidFill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n-US" altLang="en-US" sz="2800" dirty="0">
                <a:solidFill>
                  <a:srgbClr val="414141"/>
                </a:solidFill>
                <a:cs typeface="Arial" panose="020B0604020202020204" pitchFamily="34" charset="0"/>
              </a:rPr>
              <a:t>jQuery enhances the basic event-handling mechanisms by offering the events methods for most native browser events, some of these methods are </a:t>
            </a:r>
            <a:r>
              <a:rPr lang="en-US" altLang="en-US" sz="2800" dirty="0">
                <a:solidFill>
                  <a:srgbClr val="333333"/>
                </a:solidFill>
                <a:cs typeface="Arial" panose="020B0604020202020204" pitchFamily="34" charset="0"/>
              </a:rPr>
              <a:t>ready()</a:t>
            </a:r>
            <a:r>
              <a:rPr lang="en-US" altLang="en-US" sz="2800" dirty="0">
                <a:solidFill>
                  <a:srgbClr val="414141"/>
                </a:solidFill>
                <a:cs typeface="Arial" panose="020B0604020202020204" pitchFamily="34" charset="0"/>
              </a:rPr>
              <a:t>, </a:t>
            </a:r>
            <a:r>
              <a:rPr lang="en-US" altLang="en-US" sz="2800" dirty="0">
                <a:solidFill>
                  <a:srgbClr val="333333"/>
                </a:solidFill>
                <a:cs typeface="Arial" panose="020B0604020202020204" pitchFamily="34" charset="0"/>
              </a:rPr>
              <a:t>click()</a:t>
            </a:r>
            <a:r>
              <a:rPr lang="en-US" altLang="en-US" sz="2800" dirty="0">
                <a:solidFill>
                  <a:srgbClr val="414141"/>
                </a:solidFill>
                <a:cs typeface="Arial" panose="020B0604020202020204" pitchFamily="34" charset="0"/>
              </a:rPr>
              <a:t>, </a:t>
            </a:r>
            <a:r>
              <a:rPr lang="en-US" altLang="en-US" sz="2800" dirty="0">
                <a:solidFill>
                  <a:srgbClr val="333333"/>
                </a:solidFill>
                <a:cs typeface="Arial" panose="020B0604020202020204" pitchFamily="34" charset="0"/>
              </a:rPr>
              <a:t>keypress()</a:t>
            </a:r>
            <a:r>
              <a:rPr lang="en-US" altLang="en-US" sz="2800" dirty="0">
                <a:solidFill>
                  <a:srgbClr val="414141"/>
                </a:solidFill>
                <a:cs typeface="Arial" panose="020B0604020202020204" pitchFamily="34" charset="0"/>
              </a:rPr>
              <a:t>, </a:t>
            </a:r>
            <a:r>
              <a:rPr lang="en-US" altLang="en-US" sz="2800" dirty="0">
                <a:solidFill>
                  <a:srgbClr val="333333"/>
                </a:solidFill>
                <a:cs typeface="Arial" panose="020B0604020202020204" pitchFamily="34" charset="0"/>
              </a:rPr>
              <a:t>focus()</a:t>
            </a:r>
            <a:r>
              <a:rPr lang="en-US" altLang="en-US" sz="2800" dirty="0">
                <a:solidFill>
                  <a:srgbClr val="414141"/>
                </a:solidFill>
                <a:cs typeface="Arial" panose="020B0604020202020204" pitchFamily="34" charset="0"/>
              </a:rPr>
              <a:t>, </a:t>
            </a:r>
            <a:r>
              <a:rPr lang="en-US" altLang="en-US" sz="2800" dirty="0">
                <a:solidFill>
                  <a:srgbClr val="333333"/>
                </a:solidFill>
                <a:cs typeface="Arial" panose="020B0604020202020204" pitchFamily="34" charset="0"/>
              </a:rPr>
              <a:t>blur()</a:t>
            </a:r>
            <a:r>
              <a:rPr lang="en-US" altLang="en-US" sz="2800" dirty="0">
                <a:solidFill>
                  <a:srgbClr val="414141"/>
                </a:solidFill>
                <a:cs typeface="Arial" panose="020B0604020202020204" pitchFamily="34" charset="0"/>
              </a:rPr>
              <a:t>, </a:t>
            </a:r>
            <a:r>
              <a:rPr lang="en-US" altLang="en-US" sz="2800" dirty="0">
                <a:solidFill>
                  <a:srgbClr val="333333"/>
                </a:solidFill>
                <a:cs typeface="Arial" panose="020B0604020202020204" pitchFamily="34" charset="0"/>
              </a:rPr>
              <a:t>change()</a:t>
            </a:r>
            <a:r>
              <a:rPr lang="en-US" altLang="en-US" sz="2800" dirty="0">
                <a:solidFill>
                  <a:srgbClr val="414141"/>
                </a:solidFill>
                <a:cs typeface="Arial" panose="020B0604020202020204" pitchFamily="34" charset="0"/>
              </a:rPr>
              <a:t>, etc.</a:t>
            </a:r>
            <a:endParaRPr lang="en-US" altLang="en-US" sz="2800" dirty="0">
              <a:solidFill>
                <a:srgbClr val="FF3300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80361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0317" y="271463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Mouse Event Example</a:t>
            </a:r>
          </a:p>
        </p:txBody>
      </p:sp>
      <p:sp>
        <p:nvSpPr>
          <p:cNvPr id="26627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795464" y="1414463"/>
            <a:ext cx="9713364" cy="3128962"/>
          </a:xfrm>
        </p:spPr>
        <p:txBody>
          <a:bodyPr/>
          <a:lstStyle/>
          <a:p>
            <a:pPr>
              <a:spcBef>
                <a:spcPct val="0"/>
              </a:spcBef>
              <a:defRPr/>
            </a:pPr>
            <a:r>
              <a:rPr lang="en-US" altLang="en-US" sz="2400" dirty="0" smtClean="0">
                <a:cs typeface="Arial" panose="020B0604020202020204" pitchFamily="34" charset="0"/>
              </a:rPr>
              <a:t>The jQuery click() method attach an event handler function to the selected elements for "click" event.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US" altLang="en-US" sz="2400" dirty="0" smtClean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defRPr/>
            </a:pPr>
            <a:r>
              <a:rPr lang="en-US" altLang="en-US" sz="2400" dirty="0" smtClean="0">
                <a:cs typeface="Arial" panose="020B0604020202020204" pitchFamily="34" charset="0"/>
              </a:rPr>
              <a:t>The attached function is executed when the user clicks on that element. The following example will hide the &lt;p&gt; elements on a page when they are clicked. 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US" altLang="en-US" dirty="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3909190" y="3894412"/>
            <a:ext cx="457265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/>
              <a:t>&lt;script&gt;</a:t>
            </a:r>
          </a:p>
          <a:p>
            <a:pPr>
              <a:defRPr/>
            </a:pPr>
            <a:r>
              <a:rPr lang="en-US" sz="2400" dirty="0"/>
              <a:t>$(document).ready(function(){ </a:t>
            </a:r>
          </a:p>
          <a:p>
            <a:pPr>
              <a:defRPr/>
            </a:pPr>
            <a:r>
              <a:rPr lang="en-US" sz="2400" dirty="0"/>
              <a:t>	$("p").click(function(){ </a:t>
            </a:r>
          </a:p>
          <a:p>
            <a:pPr>
              <a:defRPr/>
            </a:pPr>
            <a:r>
              <a:rPr lang="en-US" sz="2400" dirty="0"/>
              <a:t>		$(this).</a:t>
            </a:r>
            <a:r>
              <a:rPr lang="en-US" sz="2400" dirty="0" err="1"/>
              <a:t>slideUp</a:t>
            </a:r>
            <a:r>
              <a:rPr lang="en-US" sz="2400" dirty="0"/>
              <a:t>();</a:t>
            </a:r>
          </a:p>
          <a:p>
            <a:pPr>
              <a:defRPr/>
            </a:pPr>
            <a:r>
              <a:rPr lang="en-US" sz="2400" dirty="0"/>
              <a:t>	 }); </a:t>
            </a:r>
          </a:p>
          <a:p>
            <a:pPr>
              <a:defRPr/>
            </a:pPr>
            <a:r>
              <a:rPr lang="en-US" sz="2400" dirty="0"/>
              <a:t>});</a:t>
            </a:r>
          </a:p>
          <a:p>
            <a:pPr>
              <a:defRPr/>
            </a:pPr>
            <a:r>
              <a:rPr lang="en-US" sz="2400" dirty="0"/>
              <a:t> 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031847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67104" y="17303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Document/Window Events Example :</a:t>
            </a:r>
            <a:br>
              <a:rPr lang="en-US" altLang="en-US" dirty="0" smtClean="0"/>
            </a:br>
            <a:r>
              <a:rPr lang="en-US" altLang="en-US" dirty="0" smtClean="0"/>
              <a:t>Scrolling Effects </a:t>
            </a:r>
          </a:p>
        </p:txBody>
      </p:sp>
      <p:sp>
        <p:nvSpPr>
          <p:cNvPr id="43011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765299" y="1316039"/>
            <a:ext cx="10216493" cy="5421092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The jQuery scroll() method attach an event handler function to the window or scrollable iframes and elements that is executed whenever the element's scroll position changes. </a:t>
            </a:r>
          </a:p>
          <a:p>
            <a:pPr>
              <a:spcBef>
                <a:spcPct val="0"/>
              </a:spcBef>
            </a:pPr>
            <a:endParaRPr lang="en-US" altLang="en-US" sz="2000" dirty="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  <p:sp>
        <p:nvSpPr>
          <p:cNvPr id="28676" name="TextBox 4"/>
          <p:cNvSpPr txBox="1">
            <a:spLocks noChangeArrowheads="1"/>
          </p:cNvSpPr>
          <p:nvPr/>
        </p:nvSpPr>
        <p:spPr bwMode="auto">
          <a:xfrm>
            <a:off x="2024063" y="2354263"/>
            <a:ext cx="4589462" cy="42465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&lt;script </a:t>
            </a:r>
            <a:r>
              <a:rPr lang="en-US" altLang="en-US" sz="1800" dirty="0" err="1">
                <a:solidFill>
                  <a:schemeClr val="tx1"/>
                </a:solidFill>
                <a:latin typeface="+mn-lt"/>
              </a:rPr>
              <a:t>src</a:t>
            </a: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="https://code.jquery.com/jquery-3.5.1.min.js"&gt;&lt;/script&gt;</a:t>
            </a:r>
          </a:p>
          <a:p>
            <a:pPr>
              <a:defRPr/>
            </a:pP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&lt;style&gt;</a:t>
            </a:r>
          </a:p>
          <a:p>
            <a:pPr>
              <a:defRPr/>
            </a:pP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p{width: 100%; padding: 50px 0; text-align: center; font: bold 34px </a:t>
            </a:r>
            <a:r>
              <a:rPr lang="en-US" altLang="en-US" sz="1800" dirty="0" err="1">
                <a:solidFill>
                  <a:schemeClr val="tx1"/>
                </a:solidFill>
                <a:latin typeface="+mn-lt"/>
              </a:rPr>
              <a:t>sans-serif;background</a:t>
            </a: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: #f0e68c;position: </a:t>
            </a:r>
            <a:r>
              <a:rPr lang="en-US" altLang="en-US" sz="1800" dirty="0" err="1">
                <a:solidFill>
                  <a:schemeClr val="tx1"/>
                </a:solidFill>
                <a:latin typeface="+mn-lt"/>
              </a:rPr>
              <a:t>fixed;top</a:t>
            </a: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: 50px;display: none;}</a:t>
            </a:r>
          </a:p>
          <a:p>
            <a:pPr>
              <a:defRPr/>
            </a:pP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.dummy-content{height: 600px;  font: 34px </a:t>
            </a:r>
            <a:r>
              <a:rPr lang="en-US" altLang="en-US" sz="1800" dirty="0" err="1">
                <a:solidFill>
                  <a:schemeClr val="tx1"/>
                </a:solidFill>
                <a:latin typeface="+mn-lt"/>
              </a:rPr>
              <a:t>sans-serif;text-align</a:t>
            </a: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: center; }</a:t>
            </a:r>
          </a:p>
          <a:p>
            <a:pPr>
              <a:defRPr/>
            </a:pP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&lt;/style&gt;</a:t>
            </a:r>
          </a:p>
          <a:p>
            <a:pPr>
              <a:defRPr/>
            </a:pP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&lt;script&gt;</a:t>
            </a:r>
          </a:p>
          <a:p>
            <a:pPr>
              <a:defRPr/>
            </a:pP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$(document).ready(function(){</a:t>
            </a:r>
          </a:p>
          <a:p>
            <a:pPr>
              <a:defRPr/>
            </a:pP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    $(window).scroll(function() {</a:t>
            </a:r>
          </a:p>
          <a:p>
            <a:pPr>
              <a:defRPr/>
            </a:pP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        $("p").show().</a:t>
            </a:r>
            <a:r>
              <a:rPr lang="en-US" altLang="en-US" sz="1800" dirty="0" err="1">
                <a:solidFill>
                  <a:schemeClr val="tx1"/>
                </a:solidFill>
                <a:latin typeface="+mn-lt"/>
              </a:rPr>
              <a:t>fadeOut</a:t>
            </a: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("slow");</a:t>
            </a:r>
          </a:p>
          <a:p>
            <a:pPr>
              <a:defRPr/>
            </a:pP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    });});&lt;/script&gt; &lt;/head&gt;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84964" y="2368550"/>
            <a:ext cx="3207801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dirty="0"/>
              <a:t>&lt;body&gt;</a:t>
            </a:r>
          </a:p>
          <a:p>
            <a:pPr>
              <a:defRPr/>
            </a:pPr>
            <a:r>
              <a:rPr lang="en-US" altLang="en-US" dirty="0"/>
              <a:t>    &lt;p&gt;Scroll Happened!&lt;/p&gt;</a:t>
            </a:r>
          </a:p>
          <a:p>
            <a:pPr>
              <a:defRPr/>
            </a:pPr>
            <a:r>
              <a:rPr lang="en-US" altLang="en-US" dirty="0"/>
              <a:t>    &lt;div class="dummy-content"&gt;</a:t>
            </a:r>
          </a:p>
          <a:p>
            <a:pPr>
              <a:defRPr/>
            </a:pPr>
            <a:r>
              <a:rPr lang="en-US" altLang="en-US" dirty="0"/>
              <a:t>Scroll the viewport.&lt;/div&gt;</a:t>
            </a:r>
          </a:p>
          <a:p>
            <a:pPr>
              <a:defRPr/>
            </a:pPr>
            <a:r>
              <a:rPr lang="en-US" altLang="en-US" dirty="0"/>
              <a:t>    &lt;div class="dummy-content"&gt;</a:t>
            </a:r>
          </a:p>
          <a:p>
            <a:pPr>
              <a:defRPr/>
            </a:pPr>
            <a:r>
              <a:rPr lang="en-US" altLang="en-US" dirty="0"/>
              <a:t>Scroll the viewport.&lt;/div&gt;</a:t>
            </a:r>
          </a:p>
          <a:p>
            <a:pPr>
              <a:defRPr/>
            </a:pPr>
            <a:r>
              <a:rPr lang="en-US" altLang="en-US" dirty="0"/>
              <a:t>&lt;/body&gt;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722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788276" y="271463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jQuery Fading Effects</a:t>
            </a:r>
          </a:p>
        </p:txBody>
      </p:sp>
      <p:sp>
        <p:nvSpPr>
          <p:cNvPr id="12291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585257" y="1225277"/>
            <a:ext cx="10280922" cy="3143250"/>
          </a:xfrm>
        </p:spPr>
        <p:txBody>
          <a:bodyPr>
            <a:normAutofit fontScale="92500"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en-US" sz="2800" dirty="0">
                <a:cs typeface="Arial" panose="020B0604020202020204" pitchFamily="34" charset="0"/>
              </a:rPr>
              <a:t>You can use the jQuery </a:t>
            </a:r>
            <a:r>
              <a:rPr lang="en-US" altLang="en-US" sz="2800" dirty="0" err="1">
                <a:cs typeface="Arial" panose="020B0604020202020204" pitchFamily="34" charset="0"/>
              </a:rPr>
              <a:t>fadeIn</a:t>
            </a:r>
            <a:r>
              <a:rPr lang="en-US" altLang="en-US" sz="2800" dirty="0">
                <a:cs typeface="Arial" panose="020B0604020202020204" pitchFamily="34" charset="0"/>
              </a:rPr>
              <a:t>() and </a:t>
            </a:r>
            <a:r>
              <a:rPr lang="en-US" altLang="en-US" sz="2800" dirty="0" err="1">
                <a:cs typeface="Arial" panose="020B0604020202020204" pitchFamily="34" charset="0"/>
              </a:rPr>
              <a:t>fadeOut</a:t>
            </a:r>
            <a:r>
              <a:rPr lang="en-US" altLang="en-US" sz="2800" dirty="0">
                <a:cs typeface="Arial" panose="020B0604020202020204" pitchFamily="34" charset="0"/>
              </a:rPr>
              <a:t>() methods to display or hide the HTML elements by gradually increasing or decreasing their opacity. 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US" altLang="en-US" sz="28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defRPr/>
            </a:pPr>
            <a:r>
              <a:rPr lang="en-US" altLang="en-US" sz="2800" dirty="0">
                <a:cs typeface="Arial" panose="020B0604020202020204" pitchFamily="34" charset="0"/>
              </a:rPr>
              <a:t>You can optionally specify the duration or speed parameter for the </a:t>
            </a:r>
            <a:r>
              <a:rPr lang="en-US" altLang="en-US" sz="2800" dirty="0" err="1">
                <a:cs typeface="Arial" panose="020B0604020202020204" pitchFamily="34" charset="0"/>
              </a:rPr>
              <a:t>fadeIn</a:t>
            </a:r>
            <a:r>
              <a:rPr lang="en-US" altLang="en-US" sz="2800" dirty="0">
                <a:cs typeface="Arial" panose="020B0604020202020204" pitchFamily="34" charset="0"/>
              </a:rPr>
              <a:t>() and </a:t>
            </a:r>
            <a:r>
              <a:rPr lang="en-US" altLang="en-US" sz="2800" dirty="0" err="1">
                <a:cs typeface="Arial" panose="020B0604020202020204" pitchFamily="34" charset="0"/>
              </a:rPr>
              <a:t>fadeOut</a:t>
            </a:r>
            <a:r>
              <a:rPr lang="en-US" altLang="en-US" sz="2800" dirty="0">
                <a:cs typeface="Arial" panose="020B0604020202020204" pitchFamily="34" charset="0"/>
              </a:rPr>
              <a:t>() methods to control how long the fading animation will run. Durations can be specified either using one of the predefined string 'slow' or 'fast', or in a number of milliseconds; higher values indicate slower animations. </a:t>
            </a:r>
          </a:p>
          <a:p>
            <a:pPr>
              <a:spcBef>
                <a:spcPct val="0"/>
              </a:spcBef>
              <a:defRPr/>
            </a:pPr>
            <a:endParaRPr lang="en-US" altLang="en-US" sz="20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defRPr/>
            </a:pPr>
            <a:endParaRPr lang="en-US" altLang="en-US" sz="2000" dirty="0">
              <a:cs typeface="Arial" panose="020B0604020202020204" pitchFamily="34" charset="0"/>
            </a:endParaRPr>
          </a:p>
        </p:txBody>
      </p:sp>
      <p:sp>
        <p:nvSpPr>
          <p:cNvPr id="45060" name="TextBox 3"/>
          <p:cNvSpPr txBox="1">
            <a:spLocks noChangeArrowheads="1"/>
          </p:cNvSpPr>
          <p:nvPr/>
        </p:nvSpPr>
        <p:spPr bwMode="auto">
          <a:xfrm>
            <a:off x="2252664" y="4557713"/>
            <a:ext cx="3413125" cy="1477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75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▫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$("p.normal").fadeOut();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$("p.fast").fadeOut("fast");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$("p.slow").fadeOut("slow");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$("p.very-fast").fadeOut(50);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$("p.very-slow").fadeOut(2000);</a:t>
            </a: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6186488" y="4570413"/>
            <a:ext cx="3581400" cy="1477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75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▫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$("p.normal").fadeIn();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$("p.fast").fadeIn("fast");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$("p.slow").fadeIn("slow");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$("p.very-fast").fadeIn(50);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$("p.very-slow").fadeIn(2000);</a:t>
            </a:r>
          </a:p>
        </p:txBody>
      </p:sp>
    </p:spTree>
    <p:extLst>
      <p:ext uri="{BB962C8B-B14F-4D97-AF65-F5344CB8AC3E}">
        <p14:creationId xmlns:p14="http://schemas.microsoft.com/office/powerpoint/2010/main" val="2222821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746235" y="173038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jQuery Animation Effects</a:t>
            </a:r>
          </a:p>
        </p:txBody>
      </p:sp>
      <p:sp>
        <p:nvSpPr>
          <p:cNvPr id="12291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746235" y="1316038"/>
            <a:ext cx="10836165" cy="500062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en-US" sz="2400" dirty="0">
                <a:cs typeface="Arial" panose="020B0604020202020204" pitchFamily="34" charset="0"/>
              </a:rPr>
              <a:t>The jQuery animate() method is used to create custom animations.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US" altLang="en-US" sz="24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defRPr/>
            </a:pPr>
            <a:r>
              <a:rPr lang="en-US" altLang="en-US" sz="2400" dirty="0">
                <a:cs typeface="Arial" panose="020B0604020202020204" pitchFamily="34" charset="0"/>
              </a:rPr>
              <a:t>The animate() method is typically used to animate numeric CSS properties, for example, </a:t>
            </a:r>
            <a:r>
              <a:rPr lang="en-US" altLang="en-US" sz="2400" dirty="0">
                <a:cs typeface="Arial" panose="020B0604020202020204" pitchFamily="34" charset="0"/>
                <a:hlinkClick r:id="rId3"/>
              </a:rPr>
              <a:t>width</a:t>
            </a:r>
            <a:r>
              <a:rPr lang="en-US" altLang="en-US" sz="2400" dirty="0">
                <a:cs typeface="Arial" panose="020B0604020202020204" pitchFamily="34" charset="0"/>
              </a:rPr>
              <a:t>, </a:t>
            </a:r>
            <a:r>
              <a:rPr lang="en-US" altLang="en-US" sz="2400" dirty="0">
                <a:cs typeface="Arial" panose="020B0604020202020204" pitchFamily="34" charset="0"/>
                <a:hlinkClick r:id="rId4"/>
              </a:rPr>
              <a:t>height</a:t>
            </a:r>
            <a:r>
              <a:rPr lang="en-US" altLang="en-US" sz="2400" dirty="0">
                <a:cs typeface="Arial" panose="020B0604020202020204" pitchFamily="34" charset="0"/>
              </a:rPr>
              <a:t>, </a:t>
            </a:r>
            <a:r>
              <a:rPr lang="en-US" altLang="en-US" sz="2400" dirty="0">
                <a:cs typeface="Arial" panose="020B0604020202020204" pitchFamily="34" charset="0"/>
                <a:hlinkClick r:id="rId5"/>
              </a:rPr>
              <a:t>margin</a:t>
            </a:r>
            <a:r>
              <a:rPr lang="en-US" altLang="en-US" sz="2400" dirty="0">
                <a:cs typeface="Arial" panose="020B0604020202020204" pitchFamily="34" charset="0"/>
              </a:rPr>
              <a:t>, </a:t>
            </a:r>
            <a:r>
              <a:rPr lang="en-US" altLang="en-US" sz="2400" dirty="0">
                <a:cs typeface="Arial" panose="020B0604020202020204" pitchFamily="34" charset="0"/>
                <a:hlinkClick r:id="rId6"/>
              </a:rPr>
              <a:t>padding</a:t>
            </a:r>
            <a:r>
              <a:rPr lang="en-US" altLang="en-US" sz="2400" dirty="0">
                <a:cs typeface="Arial" panose="020B0604020202020204" pitchFamily="34" charset="0"/>
              </a:rPr>
              <a:t>, </a:t>
            </a:r>
            <a:r>
              <a:rPr lang="en-US" altLang="en-US" sz="2400" dirty="0">
                <a:cs typeface="Arial" panose="020B0604020202020204" pitchFamily="34" charset="0"/>
                <a:hlinkClick r:id="rId7"/>
              </a:rPr>
              <a:t>opacity</a:t>
            </a:r>
            <a:r>
              <a:rPr lang="en-US" altLang="en-US" sz="2400" dirty="0">
                <a:cs typeface="Arial" panose="020B0604020202020204" pitchFamily="34" charset="0"/>
              </a:rPr>
              <a:t>, </a:t>
            </a:r>
            <a:r>
              <a:rPr lang="en-US" altLang="en-US" sz="2400" dirty="0">
                <a:cs typeface="Arial" panose="020B0604020202020204" pitchFamily="34" charset="0"/>
                <a:hlinkClick r:id="rId8"/>
              </a:rPr>
              <a:t>top</a:t>
            </a:r>
            <a:r>
              <a:rPr lang="en-US" altLang="en-US" sz="2400" dirty="0">
                <a:cs typeface="Arial" panose="020B0604020202020204" pitchFamily="34" charset="0"/>
              </a:rPr>
              <a:t>, </a:t>
            </a:r>
            <a:r>
              <a:rPr lang="en-US" altLang="en-US" sz="2400" dirty="0">
                <a:cs typeface="Arial" panose="020B0604020202020204" pitchFamily="34" charset="0"/>
                <a:hlinkClick r:id="rId9"/>
              </a:rPr>
              <a:t>left</a:t>
            </a:r>
            <a:r>
              <a:rPr lang="en-US" altLang="en-US" sz="2400" dirty="0">
                <a:cs typeface="Arial" panose="020B0604020202020204" pitchFamily="34" charset="0"/>
              </a:rPr>
              <a:t>, etc. but the non-numeric properties such as </a:t>
            </a:r>
            <a:r>
              <a:rPr lang="en-US" altLang="en-US" sz="2400" dirty="0">
                <a:cs typeface="Arial" panose="020B0604020202020204" pitchFamily="34" charset="0"/>
                <a:hlinkClick r:id="rId10"/>
              </a:rPr>
              <a:t>color</a:t>
            </a:r>
            <a:r>
              <a:rPr lang="en-US" altLang="en-US" sz="2400" dirty="0">
                <a:cs typeface="Arial" panose="020B0604020202020204" pitchFamily="34" charset="0"/>
              </a:rPr>
              <a:t> or </a:t>
            </a:r>
            <a:r>
              <a:rPr lang="en-US" altLang="en-US" sz="2400" dirty="0">
                <a:cs typeface="Arial" panose="020B0604020202020204" pitchFamily="34" charset="0"/>
                <a:hlinkClick r:id="rId11"/>
              </a:rPr>
              <a:t>background-color</a:t>
            </a:r>
            <a:r>
              <a:rPr lang="en-US" altLang="en-US" sz="2400" dirty="0">
                <a:cs typeface="Arial" panose="020B0604020202020204" pitchFamily="34" charset="0"/>
              </a:rPr>
              <a:t> cannot be animated using the basic jQuery functionality. </a:t>
            </a:r>
          </a:p>
          <a:p>
            <a:pPr>
              <a:spcBef>
                <a:spcPct val="0"/>
              </a:spcBef>
              <a:defRPr/>
            </a:pPr>
            <a:endParaRPr lang="en-US" altLang="en-US" sz="20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defRPr/>
            </a:pPr>
            <a:endParaRPr lang="en-US" altLang="en-US" sz="2000" dirty="0"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2400" dirty="0"/>
              <a:t>The required </a:t>
            </a:r>
            <a:r>
              <a:rPr lang="en-US" sz="2400" i="1" dirty="0" err="1"/>
              <a:t>params</a:t>
            </a:r>
            <a:r>
              <a:rPr lang="en-US" sz="2400" dirty="0"/>
              <a:t> parameter defines the CSS properties to be animated.</a:t>
            </a:r>
          </a:p>
          <a:p>
            <a:pPr>
              <a:defRPr/>
            </a:pPr>
            <a:r>
              <a:rPr lang="en-US" sz="2400" dirty="0"/>
              <a:t>The optional speed parameter specifies the duration of the effect. It can take the following values: "slow", "fast", or milliseconds.</a:t>
            </a:r>
          </a:p>
          <a:p>
            <a:pPr>
              <a:defRPr/>
            </a:pPr>
            <a:r>
              <a:rPr lang="en-US" sz="2400" dirty="0"/>
              <a:t>The optional callback parameter is a function to be executed after the animation completes.</a:t>
            </a:r>
          </a:p>
          <a:p>
            <a:pPr>
              <a:spcBef>
                <a:spcPct val="0"/>
              </a:spcBef>
              <a:defRPr/>
            </a:pPr>
            <a:endParaRPr lang="en-US" altLang="en-US" sz="20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defRPr/>
            </a:pPr>
            <a:endParaRPr lang="en-US" altLang="en-US" sz="20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defRPr/>
            </a:pPr>
            <a:endParaRPr lang="en-US" altLang="en-US" sz="2000" dirty="0">
              <a:cs typeface="Arial" panose="020B0604020202020204" pitchFamily="34" charset="0"/>
            </a:endParaRPr>
          </a:p>
        </p:txBody>
      </p:sp>
      <p:sp>
        <p:nvSpPr>
          <p:cNvPr id="47108" name="TextBox 3"/>
          <p:cNvSpPr txBox="1">
            <a:spLocks noChangeArrowheads="1"/>
          </p:cNvSpPr>
          <p:nvPr/>
        </p:nvSpPr>
        <p:spPr bwMode="auto">
          <a:xfrm>
            <a:off x="2103329" y="3614984"/>
            <a:ext cx="7399337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75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▫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Syntax: $(selector).animate({ params }, speed, callback);</a:t>
            </a:r>
          </a:p>
        </p:txBody>
      </p:sp>
    </p:spTree>
    <p:extLst>
      <p:ext uri="{BB962C8B-B14F-4D97-AF65-F5344CB8AC3E}">
        <p14:creationId xmlns:p14="http://schemas.microsoft.com/office/powerpoint/2010/main" val="2142115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788276" y="183549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jQuery Animation Effects Example</a:t>
            </a:r>
          </a:p>
        </p:txBody>
      </p:sp>
      <p:sp>
        <p:nvSpPr>
          <p:cNvPr id="12291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1417092" y="1088643"/>
            <a:ext cx="10501639" cy="5000625"/>
          </a:xfrm>
        </p:spPr>
        <p:txBody>
          <a:bodyPr/>
          <a:lstStyle/>
          <a:p>
            <a:pPr>
              <a:spcBef>
                <a:spcPct val="0"/>
              </a:spcBef>
              <a:defRPr/>
            </a:pPr>
            <a:r>
              <a:rPr lang="en-US" altLang="en-US" sz="2400" dirty="0">
                <a:cs typeface="Arial" panose="020B0604020202020204" pitchFamily="34" charset="0"/>
              </a:rPr>
              <a:t>The jQuery animate() method is used to create custom animations.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US" altLang="en-US" sz="24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defRPr/>
            </a:pPr>
            <a:r>
              <a:rPr lang="en-US" altLang="en-US" sz="2400" dirty="0">
                <a:cs typeface="Arial" panose="020B0604020202020204" pitchFamily="34" charset="0"/>
              </a:rPr>
              <a:t>The animate() method is typically used to animate numeric CSS properties, for example, </a:t>
            </a:r>
            <a:r>
              <a:rPr lang="en-US" altLang="en-US" sz="2400" dirty="0">
                <a:cs typeface="Arial" panose="020B0604020202020204" pitchFamily="34" charset="0"/>
                <a:hlinkClick r:id="rId3"/>
              </a:rPr>
              <a:t>width</a:t>
            </a:r>
            <a:r>
              <a:rPr lang="en-US" altLang="en-US" sz="2400" dirty="0">
                <a:cs typeface="Arial" panose="020B0604020202020204" pitchFamily="34" charset="0"/>
              </a:rPr>
              <a:t>, </a:t>
            </a:r>
            <a:r>
              <a:rPr lang="en-US" altLang="en-US" sz="2400" dirty="0">
                <a:cs typeface="Arial" panose="020B0604020202020204" pitchFamily="34" charset="0"/>
                <a:hlinkClick r:id="rId4"/>
              </a:rPr>
              <a:t>height</a:t>
            </a:r>
            <a:r>
              <a:rPr lang="en-US" altLang="en-US" sz="2400" dirty="0">
                <a:cs typeface="Arial" panose="020B0604020202020204" pitchFamily="34" charset="0"/>
              </a:rPr>
              <a:t>, </a:t>
            </a:r>
            <a:r>
              <a:rPr lang="en-US" altLang="en-US" sz="2400" dirty="0">
                <a:cs typeface="Arial" panose="020B0604020202020204" pitchFamily="34" charset="0"/>
                <a:hlinkClick r:id="rId5"/>
              </a:rPr>
              <a:t>margin</a:t>
            </a:r>
            <a:r>
              <a:rPr lang="en-US" altLang="en-US" sz="2400" dirty="0">
                <a:cs typeface="Arial" panose="020B0604020202020204" pitchFamily="34" charset="0"/>
              </a:rPr>
              <a:t>, </a:t>
            </a:r>
            <a:r>
              <a:rPr lang="en-US" altLang="en-US" sz="2400" dirty="0">
                <a:cs typeface="Arial" panose="020B0604020202020204" pitchFamily="34" charset="0"/>
                <a:hlinkClick r:id="rId6"/>
              </a:rPr>
              <a:t>padding</a:t>
            </a:r>
            <a:r>
              <a:rPr lang="en-US" altLang="en-US" sz="2400" dirty="0">
                <a:cs typeface="Arial" panose="020B0604020202020204" pitchFamily="34" charset="0"/>
              </a:rPr>
              <a:t>, </a:t>
            </a:r>
            <a:r>
              <a:rPr lang="en-US" altLang="en-US" sz="2400" dirty="0">
                <a:cs typeface="Arial" panose="020B0604020202020204" pitchFamily="34" charset="0"/>
                <a:hlinkClick r:id="rId7"/>
              </a:rPr>
              <a:t>opacity</a:t>
            </a:r>
            <a:r>
              <a:rPr lang="en-US" altLang="en-US" sz="2400" dirty="0">
                <a:cs typeface="Arial" panose="020B0604020202020204" pitchFamily="34" charset="0"/>
              </a:rPr>
              <a:t>, </a:t>
            </a:r>
            <a:r>
              <a:rPr lang="en-US" altLang="en-US" sz="2400" dirty="0">
                <a:cs typeface="Arial" panose="020B0604020202020204" pitchFamily="34" charset="0"/>
                <a:hlinkClick r:id="rId8"/>
              </a:rPr>
              <a:t>top</a:t>
            </a:r>
            <a:r>
              <a:rPr lang="en-US" altLang="en-US" sz="2400" dirty="0">
                <a:cs typeface="Arial" panose="020B0604020202020204" pitchFamily="34" charset="0"/>
              </a:rPr>
              <a:t>, </a:t>
            </a:r>
            <a:r>
              <a:rPr lang="en-US" altLang="en-US" sz="2400" dirty="0">
                <a:cs typeface="Arial" panose="020B0604020202020204" pitchFamily="34" charset="0"/>
                <a:hlinkClick r:id="rId9"/>
              </a:rPr>
              <a:t>left</a:t>
            </a:r>
            <a:r>
              <a:rPr lang="en-US" altLang="en-US" sz="2400" dirty="0">
                <a:cs typeface="Arial" panose="020B0604020202020204" pitchFamily="34" charset="0"/>
              </a:rPr>
              <a:t>, etc. but the non-numeric properties such as </a:t>
            </a:r>
            <a:r>
              <a:rPr lang="en-US" altLang="en-US" sz="2400" dirty="0">
                <a:cs typeface="Arial" panose="020B0604020202020204" pitchFamily="34" charset="0"/>
                <a:hlinkClick r:id="rId10"/>
              </a:rPr>
              <a:t>color</a:t>
            </a:r>
            <a:r>
              <a:rPr lang="en-US" altLang="en-US" sz="2400" dirty="0">
                <a:cs typeface="Arial" panose="020B0604020202020204" pitchFamily="34" charset="0"/>
              </a:rPr>
              <a:t> or </a:t>
            </a:r>
            <a:r>
              <a:rPr lang="en-US" altLang="en-US" sz="2400" dirty="0">
                <a:cs typeface="Arial" panose="020B0604020202020204" pitchFamily="34" charset="0"/>
                <a:hlinkClick r:id="rId11"/>
              </a:rPr>
              <a:t>background-color</a:t>
            </a:r>
            <a:r>
              <a:rPr lang="en-US" altLang="en-US" sz="2400" dirty="0">
                <a:cs typeface="Arial" panose="020B0604020202020204" pitchFamily="34" charset="0"/>
              </a:rPr>
              <a:t> cannot be animated using the basic jQuery functionality. 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US" altLang="en-US" sz="24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defRPr/>
            </a:pPr>
            <a:r>
              <a:rPr lang="en-US" sz="2400" dirty="0"/>
              <a:t>Multiple properties can be animated at the same time as shown below:</a:t>
            </a:r>
            <a:endParaRPr lang="en-US" altLang="en-US" sz="24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defRPr/>
            </a:pPr>
            <a:endParaRPr lang="en-US" altLang="en-US" sz="20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defRPr/>
            </a:pPr>
            <a:endParaRPr lang="en-US" altLang="en-US" sz="20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defRPr/>
            </a:pPr>
            <a:endParaRPr lang="en-US" altLang="en-US" sz="20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defRPr/>
            </a:pPr>
            <a:endParaRPr lang="en-US" altLang="en-US" sz="20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defRPr/>
            </a:pPr>
            <a:endParaRPr lang="en-US" altLang="en-US" sz="2000" dirty="0">
              <a:cs typeface="Arial" panose="020B0604020202020204" pitchFamily="34" charset="0"/>
            </a:endParaRPr>
          </a:p>
        </p:txBody>
      </p:sp>
      <p:sp>
        <p:nvSpPr>
          <p:cNvPr id="49156" name="TextBox 3"/>
          <p:cNvSpPr txBox="1">
            <a:spLocks noChangeArrowheads="1"/>
          </p:cNvSpPr>
          <p:nvPr/>
        </p:nvSpPr>
        <p:spPr bwMode="auto">
          <a:xfrm>
            <a:off x="2284414" y="3937001"/>
            <a:ext cx="7399337" cy="2862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75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▫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$(document).ready(function(){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$("button").click(function(){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 $("div").animate({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   left: '250px',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   opacity: '0.5',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   height: '150px',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   width: '150px'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 });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});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3292489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bfc95-5fc1-4e5f-aee2-c8976470c7fa">
      <Terms xmlns="http://schemas.microsoft.com/office/infopath/2007/PartnerControls"/>
    </lcf76f155ced4ddcb4097134ff3c332f>
    <TaxCatchAll xmlns="6da64911-38d9-4b77-b6d0-85c58d59eee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A374375A648B43BE2F504427ACA368" ma:contentTypeVersion="15" ma:contentTypeDescription="Create a new document." ma:contentTypeScope="" ma:versionID="013dc5019cb378d6f3b4beb94fb7cf4e">
  <xsd:schema xmlns:xsd="http://www.w3.org/2001/XMLSchema" xmlns:xs="http://www.w3.org/2001/XMLSchema" xmlns:p="http://schemas.microsoft.com/office/2006/metadata/properties" xmlns:ns2="6da64911-38d9-4b77-b6d0-85c58d59eee7" xmlns:ns3="c14bfc95-5fc1-4e5f-aee2-c8976470c7fa" targetNamespace="http://schemas.microsoft.com/office/2006/metadata/properties" ma:root="true" ma:fieldsID="ea8c4da17c1bbcf1ebea871cf52d131d" ns2:_="" ns3:_="">
    <xsd:import namespace="6da64911-38d9-4b77-b6d0-85c58d59eee7"/>
    <xsd:import namespace="c14bfc95-5fc1-4e5f-aee2-c8976470c7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64911-38d9-4b77-b6d0-85c58d59ee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f6769d7-3c27-4ceb-9c12-0647dbcb441e}" ma:internalName="TaxCatchAll" ma:showField="CatchAllData" ma:web="6da64911-38d9-4b77-b6d0-85c58d59e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bfc95-5fc1-4e5f-aee2-c8976470c7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BA02BC-3791-43BD-B9DA-5ABA081C787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0DBC35C-F3C1-4838-9D48-851E526183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0F1FD1-948B-47A4-961C-27F432758ADC}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583</TotalTime>
  <Words>1641</Words>
  <Application>Microsoft Office PowerPoint</Application>
  <PresentationFormat>Widescreen</PresentationFormat>
  <Paragraphs>257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-apple-system</vt:lpstr>
      <vt:lpstr>Arial</vt:lpstr>
      <vt:lpstr>Calibri</vt:lpstr>
      <vt:lpstr>Consolas</vt:lpstr>
      <vt:lpstr>Mangal</vt:lpstr>
      <vt:lpstr>Monaco</vt:lpstr>
      <vt:lpstr>Times New Roman</vt:lpstr>
      <vt:lpstr>Tw Cen MT</vt:lpstr>
      <vt:lpstr>Tw Cen MT Condensed</vt:lpstr>
      <vt:lpstr>Wingdings 3</vt:lpstr>
      <vt:lpstr>Integral</vt:lpstr>
      <vt:lpstr>Chapter 4C. jQuery</vt:lpstr>
      <vt:lpstr>PowerPoint Presentation</vt:lpstr>
      <vt:lpstr>jQuery Library</vt:lpstr>
      <vt:lpstr>jQuery Intro</vt:lpstr>
      <vt:lpstr>jQuery: A Popular Framework</vt:lpstr>
      <vt:lpstr>What can you do with jQuery</vt:lpstr>
      <vt:lpstr>Advantages using jQuery</vt:lpstr>
      <vt:lpstr>Including jQuery</vt:lpstr>
      <vt:lpstr>Including jQuery from CDN</vt:lpstr>
      <vt:lpstr>jQuery Syntax</vt:lpstr>
      <vt:lpstr>jQuery Syntax Continue…</vt:lpstr>
      <vt:lpstr>jQuery Selector</vt:lpstr>
      <vt:lpstr>Basic Selector</vt:lpstr>
      <vt:lpstr>Some Example</vt:lpstr>
      <vt:lpstr>Common Element Manipulation (HTML attributes)</vt:lpstr>
      <vt:lpstr>Common Element Manipulation (HTML properties)</vt:lpstr>
      <vt:lpstr>Common Element Manipulation (Changing CSS)</vt:lpstr>
      <vt:lpstr>jQuery Event</vt:lpstr>
      <vt:lpstr>Mouse Event Example</vt:lpstr>
      <vt:lpstr>Document/Window Events Example : Scrolling Effects </vt:lpstr>
      <vt:lpstr>jQuery Fading Effects</vt:lpstr>
      <vt:lpstr>jQuery Animation Effects</vt:lpstr>
      <vt:lpstr>jQuery Animation Effects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4b. jQuery</dc:title>
  <dc:creator>nuras</dc:creator>
  <cp:lastModifiedBy>nuras</cp:lastModifiedBy>
  <cp:revision>5</cp:revision>
  <dcterms:created xsi:type="dcterms:W3CDTF">2022-12-12T19:25:32Z</dcterms:created>
  <dcterms:modified xsi:type="dcterms:W3CDTF">2024-05-31T00:15:50Z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0x0101009FA374375A648B43BE2F504427ACA368</vt:lpwstr>
  </property>
</Properties>
</file>